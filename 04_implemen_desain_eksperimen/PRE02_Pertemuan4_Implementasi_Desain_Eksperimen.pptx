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4846320"/>
            <a:ext cx="3108960" cy="3108960"/>
          </a:xfrm>
          <a:prstGeom prst="ellipse">
            <a:avLst/>
          </a:prstGeom>
          <a:solidFill>
            <a:srgbClr val="97B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8A33D"/>
                </a:solidFill>
                <a:latin typeface="Calibri"/>
              </a:defRPr>
            </a:pPr>
            <a:r>
              <a:t>PROGRESS PENELITIAN PERTEMUAN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mbria"/>
              </a:defRPr>
            </a:pPr>
            <a:r>
              <a:t>Implementasi Desain Eksperimen:</a:t>
            </a:r>
            <a:br/>
            <a:r>
              <a:t>Pemodelan Probabilitas Terkalibrasi &amp; Early Warning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E4EFD8"/>
                </a:solidFill>
                <a:latin typeface="Calibri"/>
              </a:defRPr>
            </a:pPr>
            <a:r>
              <a:t>Topik PRE-02: Prediksi Probabilitas Keterlambatan Proyek Multi Sumber Daya Terbatas</a:t>
            </a:r>
            <a:br/>
            <a:r>
              <a:t>Studi Kasus: Portofolio Modul Pengembangan Super ERP Farm Nation Enterprise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7BC62"/>
                </a:solidFill>
                <a:latin typeface="Calibri"/>
              </a:defRPr>
            </a:pPr>
            <a:r>
              <a:t>Tim Peneliti PRE-02 | Mata Kuliah Manajemen Proyek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KESIAPAN FONDASI DATA (PERTEMUAN 3 RECAP)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4220"/>
                </a:solidFill>
                <a:latin typeface="Cambria"/>
              </a:defRPr>
            </a:pPr>
            <a:r>
              <a:t>Pondasi Empiris: Dataset Portofolio Modul Super ERP FNE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5B6B5C"/>
                </a:solidFill>
                <a:latin typeface="Calibri"/>
              </a:defRPr>
            </a:pPr>
            <a:r>
              <a:t>26 aktivitas inti modul ERP diekstraksi dari 8 dokumen PMP untuk pengujian eksperimen.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PRE-02 — Prediksi Probabilitas Keterlambatan Proyek Multi Sumber Daya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38328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C5F2D"/>
                </a:solidFill>
                <a:latin typeface="Calibri"/>
              </a:defRPr>
            </a:pPr>
            <a:r>
              <a:t>8 DOKUMEN PMP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220"/>
                </a:solidFill>
                <a:latin typeface="Cambria"/>
              </a:defRPr>
            </a:pPr>
            <a:r>
              <a:t>Sumber Data PMP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33324"/>
                </a:solidFill>
                <a:latin typeface="Calibri"/>
              </a:defRPr>
            </a:pPr>
            <a:r>
              <a:t>Data diekstraksi dari 8 sub-proyek FNE (P-FNE-01 Foundation s.d P-FNE-08 Autonomous Enterprise) berstandar PMBOK dan INKINDO 2026.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38328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031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C5F2D"/>
                </a:solidFill>
                <a:latin typeface="Calibri"/>
              </a:defRPr>
            </a:pPr>
            <a:r>
              <a:t>N = 26 TASKS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4688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220"/>
                </a:solidFill>
                <a:latin typeface="Cambria"/>
              </a:defRPr>
            </a:pPr>
            <a:r>
              <a:t>Ukuran Sampel &amp; Distribusi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089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33324"/>
                </a:solidFill>
                <a:latin typeface="Calibri"/>
              </a:defRPr>
            </a:pPr>
            <a:r>
              <a:t>N = 26 Aktivitas Operasional</a:t>
            </a:r>
            <a:br/>
            <a:r>
              <a:t>• Status Terlambat: 16 Modul (61.5%)</a:t>
            </a:r>
            <a:br/>
            <a:r>
              <a:t>• Status Tepat Waktu: 10 Modul (38.5%)</a:t>
            </a:r>
            <a:br/>
            <a:r>
              <a:t>Distribusi seimbang secara wajar.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38328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C5F2D"/>
                </a:solidFill>
                <a:latin typeface="Calibri"/>
              </a:defRPr>
            </a:pPr>
            <a:r>
              <a:t>7 PREDIKTOR KUNCI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688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220"/>
                </a:solidFill>
                <a:latin typeface="Cambria"/>
              </a:defRPr>
            </a:pPr>
            <a:r>
              <a:t>Fitur Multi-Dimensi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33324"/>
                </a:solidFill>
                <a:latin typeface="Calibri"/>
              </a:defRPr>
            </a:pPr>
            <a:r>
              <a:t>7 Variabel Masukan (X1..X7):</a:t>
            </a:r>
            <a:br/>
            <a:r>
              <a:t>• Durasi &amp; Person-Hours</a:t>
            </a:r>
            <a:br/>
            <a:r>
              <a:t>• Predecessor Count (Dependensi)</a:t>
            </a:r>
            <a:br/>
            <a:r>
              <a:t>• Resource Utilization Rate</a:t>
            </a:r>
            <a:br/>
            <a:r>
              <a:t>• Risk Score &amp; SPI Value</a:t>
            </a:r>
            <a:br/>
            <a:r>
              <a:t>• Scope Change Requests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PIPELINE ARSITEKTUR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4220"/>
                </a:solidFill>
                <a:latin typeface="Cambria"/>
              </a:defRPr>
            </a:pPr>
            <a:r>
              <a:t>Flowchart Alur Eksperimen Machine Learning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5B6B5C"/>
                </a:solidFill>
                <a:latin typeface="Calibri"/>
              </a:defRPr>
            </a:pPr>
            <a:r>
              <a:t>Rancangan proses standar saintifik adaptasi CRISP-DM untuk predictive project monitoring.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PRE-02 — Prediksi Probabilitas Keterlambatan Proyek Multi Sumber Daya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383280" cy="2011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TAHAP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Data Ingestion &amp;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88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Pembacaan 26 modul FNE &amp; verifikasi integritas 7 fitur input.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383280" cy="2011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01168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TAHAP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28600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Partisi &amp; Penskalaan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88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Stratified 5-Fold CV &amp; StandardScaler terisolasi per fold.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383280" cy="2011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1168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TAHAP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28600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Pelatihan 4 Algoritma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788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Eksekusi LR Baseline, Random Forest, Gradient Boosting, dan MLP.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069080"/>
            <a:ext cx="3383280" cy="2011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25196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TAHAP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5262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Kalibrasi Probabilitas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0292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Platt Scaling &amp; Isotonic Regression, dilatih pada inner 3-fold di dalam fold training (tanpa kebocoran data).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4069080"/>
            <a:ext cx="3383280" cy="2011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425196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TAHAP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5262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Evaluasi Multi-Metrik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50292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Kalkulasi Brier Score, ROC-AUC, ECE, Log Loss, dan kurva keandalan.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069080"/>
            <a:ext cx="3383280" cy="2011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25196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TAHAP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52628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Threshold &amp; EWS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50292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Analisis ambang Youden J dan translasi probabilitas ke 3 zona mitigasi bagi Project Manager.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DESAIN SKENARIO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4220"/>
                </a:solidFill>
                <a:latin typeface="Cambria"/>
              </a:defRPr>
            </a:pPr>
            <a:r>
              <a:t>5 Skenario Eksperimen Pemodelan Probabilitas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5B6B5C"/>
                </a:solidFill>
                <a:latin typeface="Calibri"/>
              </a:defRPr>
            </a:pPr>
            <a:r>
              <a:t>Mengombinasikan model parametrik, ensemble non-linier, jaringan saraf tiruan, dan kalibrasi.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PRE-02 — Prediksi Probabilitas Keterlambatan Proyek Multi Sumber Daya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205740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C5F2D"/>
                </a:solidFill>
                <a:latin typeface="Calibri"/>
              </a:defRPr>
            </a:pPr>
            <a:r>
              <a:t>SKENARIO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783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Logistic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Baseline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1783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Probabilitas via fungsi sigmoid; regularisasi L2 (C = 1.0) diselesaikan hingga konvergen. Berperan sebagai benchmark linear.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828800"/>
            <a:ext cx="205740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205740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C5F2D"/>
                </a:solidFill>
                <a:latin typeface="Calibri"/>
              </a:defRPr>
            </a:pPr>
            <a:r>
              <a:t>SKENARIO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331720"/>
            <a:ext cx="1783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Random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97180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predict_proba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383280"/>
            <a:ext cx="1783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100 pohon (max_depth 3). Probabilitas = rata-rata proporsi kelas delay di daun seluruh pohon; menghasilkan Feature Importance MDI.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828800"/>
            <a:ext cx="205740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05740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C5F2D"/>
                </a:solidFill>
                <a:latin typeface="Calibri"/>
              </a:defRPr>
            </a:pPr>
            <a:r>
              <a:t>SKENARIO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331720"/>
            <a:ext cx="1783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Gradient Boosting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97180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Loss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383280"/>
            <a:ext cx="1783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100 pohon regresi berurutan pada pseudo-residual log-loss (learning rate 0.05, max_depth 2, subsample 0.8).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199" y="1828800"/>
            <a:ext cx="205740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59" y="205740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C5F2D"/>
                </a:solidFill>
                <a:latin typeface="Calibri"/>
              </a:defRPr>
            </a:pPr>
            <a:r>
              <a:t>SKENARIO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59" y="2331720"/>
            <a:ext cx="1783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MLP Neural Network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59" y="297180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Deep Sigmoid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59" y="3383280"/>
            <a:ext cx="1783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2 lapis tersembunyi (16-8 neuron, ReLU) dan output sigmoid; optimasi Adam (lr 0.01, 1000 iterasi, alpha 0.01).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1828800"/>
            <a:ext cx="205740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205740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C5F2D"/>
                </a:solidFill>
                <a:latin typeface="Calibri"/>
              </a:defRPr>
            </a:pPr>
            <a:r>
              <a:t>SKENARIO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331720"/>
            <a:ext cx="1783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4220"/>
                </a:solidFill>
                <a:latin typeface="Cambria"/>
              </a:defRPr>
            </a:pPr>
            <a:r>
              <a:t>Kalibrasi &amp; ECE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2971800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Platt / Isotonic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3383280"/>
            <a:ext cx="1783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33324"/>
                </a:solidFill>
                <a:latin typeface="Calibri"/>
              </a:defRPr>
            </a:pPr>
            <a:r>
              <a:t>Tiap model diuji Raw vs Platt vs Isotonic. Kombinasi dengan Brier Score terendah menjadi model rekomendasi.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VALIDASI &amp; REPLIKASI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4220"/>
                </a:solidFill>
                <a:latin typeface="Cambria"/>
              </a:defRPr>
            </a:pPr>
            <a:r>
              <a:t>Protokol Kontrol Eksperimen &amp; Penanganan Data Terbatas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5B6B5C"/>
                </a:solidFill>
                <a:latin typeface="Calibri"/>
              </a:defRPr>
            </a:pPr>
            <a:r>
              <a:t>Menjamin integritas ilmiah, mencegah kebocoran data, dan mengunci replikasi hasil.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PRE-02 — Prediksi Probabilitas Keterlambatan Proyek Multi Sumber Daya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38328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STRATEGI EVALUASI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220"/>
                </a:solidFill>
                <a:latin typeface="Cambria"/>
              </a:defRPr>
            </a:pPr>
            <a:r>
              <a:t>Stratified 5-Fold CV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33324"/>
                </a:solidFill>
                <a:latin typeface="Calibri"/>
              </a:defRPr>
            </a:pPr>
            <a:r>
              <a:t>Mengingat N=26, Stratified K-Fold membagi data menjadi 5 lipatan dengan menjaga rasio 61.5% Delay : 38.5% On-Time. Hold-out 80:20 (21:5 task) dijalankan sebagai pembanding indikatif.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38328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031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PENCEGAHAN LEAKAGE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4688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220"/>
                </a:solidFill>
                <a:latin typeface="Cambria"/>
              </a:defRPr>
            </a:pPr>
            <a:r>
              <a:t>Isolasi Standard Scaler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089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33324"/>
                </a:solidFill>
                <a:latin typeface="Calibri"/>
              </a:defRPr>
            </a:pPr>
            <a:r>
              <a:t>Penskalaan z-score dan kalibrator dihitung HANYA dari data latih tiap fold (kalibrator via inner 3-fold), lalu diterapkan ke data uji. Mencegah data leakage.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38328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REPLIKASI TERJAMIN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688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4220"/>
                </a:solidFill>
                <a:latin typeface="Cambria"/>
              </a:defRPr>
            </a:pPr>
            <a:r>
              <a:t>Regularisasi &amp; Fixed Seed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33324"/>
                </a:solidFill>
                <a:latin typeface="Calibri"/>
              </a:defRPr>
            </a:pPr>
            <a:r>
              <a:t>• Penguncian random_state = 42 untuk seluruh model.</a:t>
            </a:r>
            <a:br/>
            <a:r>
              <a:t>• Pembatasan max_depth: 3 (RF) dan 2 (GB).</a:t>
            </a:r>
            <a:br/>
            <a:r>
              <a:t>• Penalti L2 pada Logistic Regression &amp; MLP.</a:t>
            </a:r>
            <a:br/>
            <a:r>
              <a:t>• Implementasi diverifikasi terhadap scikit-learn.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KRITERIA EVALUASI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4220"/>
                </a:solidFill>
                <a:latin typeface="Cambria"/>
              </a:defRPr>
            </a:pPr>
            <a:r>
              <a:t>Metrik Pengujian Kinerja Probabilistik &amp; Diskriminasi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5B6B5C"/>
                </a:solidFill>
                <a:latin typeface="Calibri"/>
              </a:defRPr>
            </a:pPr>
            <a:r>
              <a:t>Menilai tidak hanya ketepatan klasifikasi, tetapi juga tingkat keandalan numerik probabilitas.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PRE-02 — Prediksi Probabilitas Keterlambatan Proyek Multi Sumber Daya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2064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E4220"/>
                </a:solidFill>
                <a:latin typeface="Cambria"/>
              </a:defRPr>
            </a:pPr>
            <a:r>
              <a:t>DIMENSI 1: KUALITAS PROBABILITAS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233324"/>
                </a:solidFill>
                <a:latin typeface="Calibri"/>
              </a:defRPr>
            </a:pPr>
            <a:r>
              <a:t>1. Brier Score (BS):</a:t>
            </a:r>
            <a:br/>
            <a:r>
              <a:t>Mengukur rata-rata kuadrat deviasi antara probabilitas estimasi dan luaran aktual (0-1). Semakin mendekati 0, semakin presisi.</a:t>
            </a:r>
            <a:br/>
            <a:br/>
            <a:r>
              <a:t>2. Expected Calibration Error (ECE):</a:t>
            </a:r>
            <a:br/>
            <a:r>
              <a:t>Mengukur kesenjangan absolut antara confidence level prediksi dan empirical accuracy dalam 5 bin interval (N = 26).</a:t>
            </a:r>
            <a:br/>
            <a:br/>
            <a:r>
              <a:t>3. Logarithmic Loss (Cross-Entropy):</a:t>
            </a:r>
            <a:br/>
            <a:r>
              <a:t>Memberikan penalti tajam terhadap prediksi probabilitas yang terlalu percaya diri (overconfident) namun salah.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212080" cy="42976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C5F2D"/>
                </a:solidFill>
                <a:latin typeface="Cambria"/>
              </a:defRPr>
            </a:pPr>
            <a:r>
              <a:t>DIMENSI 2: KEMAMPUAN DISKRIMINASI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603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233324"/>
                </a:solidFill>
                <a:latin typeface="Calibri"/>
              </a:defRPr>
            </a:pPr>
            <a:r>
              <a:t>1. ROC-AUC (Area Under ROC Curve):</a:t>
            </a:r>
            <a:br/>
            <a:r>
              <a:t>Mengukur kapasitas pemisahan modul terlambat vs tepat waktu di semua kemungkinan nilai threshold.</a:t>
            </a:r>
            <a:br/>
            <a:br/>
            <a:r>
              <a:t>2. Sensitivity (Recall) &amp; Specificity:</a:t>
            </a:r>
            <a:br/>
            <a:r>
              <a:t>Menilai kemampuan sistem mendeteksi keterlambatan nyata sekaligus meminimalkan alarm palsu (false alarm).</a:t>
            </a:r>
            <a:br/>
            <a:br/>
            <a:r>
              <a:t>3. F1-Score &amp; Accuracy:</a:t>
            </a:r>
            <a:br/>
            <a:r>
              <a:t>Evaluasi performa klasifikasi pada threshold 0.5, dilengkapi ambang optimal Youden J.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APLIKASI MANAJERIAL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4220"/>
                </a:solidFill>
                <a:latin typeface="Cambria"/>
              </a:defRPr>
            </a:pPr>
            <a:r>
              <a:t>Early Warning System (EWS): Translasi Probabilitas ke Mitigasi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5B6B5C"/>
                </a:solidFill>
                <a:latin typeface="Calibri"/>
              </a:defRPr>
            </a:pPr>
            <a:r>
              <a:t>Menerjemahkan taksiran probabilitas numerik menjadi kebijakan operasional nyata bagi Project Manager.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PRE-02 — Prediksi Probabilitas Keterlambatan Proyek Multi Sumber Daya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698480" cy="13258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182880" cy="1325880"/>
          </a:xfrm>
          <a:prstGeom prst="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9659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E4220"/>
                </a:solidFill>
                <a:latin typeface="Cambria"/>
              </a:defRPr>
            </a:pPr>
            <a:r>
              <a:t>Zona Hijau: Normal / Low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6596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2C5F2D"/>
                </a:solidFill>
                <a:latin typeface="Calibri"/>
              </a:defRPr>
            </a:pPr>
            <a:r>
              <a:t>P(Delay) &lt; 0.35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233324"/>
                </a:solidFill>
                <a:latin typeface="Calibri"/>
              </a:defRPr>
            </a:pPr>
            <a:r>
              <a:t>Kebijakan Manajerial: Kondisi stabil terkendali. Tidak diperlukan alokasi developer tambahan. Monitoring rutin mingguan.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37560"/>
            <a:ext cx="10698480" cy="13258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337560"/>
            <a:ext cx="182880" cy="132588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47472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E4220"/>
                </a:solidFill>
                <a:latin typeface="Cambria"/>
              </a:defRPr>
            </a:pPr>
            <a:r>
              <a:t>Zona Kuning: Moderate Risk / Watchlist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47472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8A33D"/>
                </a:solidFill>
                <a:latin typeface="Calibri"/>
              </a:defRPr>
            </a:pPr>
            <a:r>
              <a:t>0.35 &lt;= P(Delay) &lt; 0.65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862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233324"/>
                </a:solidFill>
                <a:latin typeface="Calibri"/>
              </a:defRPr>
            </a:pPr>
            <a:r>
              <a:t>Kebijakan Manajerial: Modul rawan terdampak cascading delay. Kunci scope changes, audit dependensi predecessor, koordinasi harian.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46320"/>
            <a:ext cx="10698480" cy="132588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846320"/>
            <a:ext cx="182880" cy="1325880"/>
          </a:xfrm>
          <a:prstGeom prst="rect">
            <a:avLst/>
          </a:prstGeom>
          <a:solidFill>
            <a:srgbClr val="B33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98348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E4220"/>
                </a:solidFill>
                <a:latin typeface="Cambria"/>
              </a:defRPr>
            </a:pPr>
            <a:r>
              <a:t>Zona Merah: Critical Alert / High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9834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B33927"/>
                </a:solidFill>
                <a:latin typeface="Calibri"/>
              </a:defRPr>
            </a:pPr>
            <a:r>
              <a:t>P(Delay) &gt;= 0.65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3949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233324"/>
                </a:solidFill>
                <a:latin typeface="Calibri"/>
              </a:defRPr>
            </a:pPr>
            <a:r>
              <a:t>Kebijakan Manajerial: Risiko keterlambatan sangat pasti. Tindakan korektif agresif: crashing alokasi developer, fast-tracking rilis, eskalasi ke Steering Committee.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HASIL EKSPERIMEN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4220"/>
                </a:solidFill>
                <a:latin typeface="Cambria"/>
              </a:defRPr>
            </a:pPr>
            <a:r>
              <a:t>Kinerja 4 Algoritma × 3 Metode Kalibrasi (Stratified 5-Fold CV)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5B6B5C"/>
                </a:solidFill>
                <a:latin typeface="Calibri"/>
              </a:defRPr>
            </a:pPr>
            <a:r>
              <a:t>Baris tebal = model rekomendasi (Brier Score terendah): MLP Neural Network (tanpa kalibrasi).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PRE-02 — Prediksi Probabilitas Keterlambatan Proyek Multi Sumber Daya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83080"/>
          <a:ext cx="10698480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280160"/>
                <a:gridCol w="1188720"/>
                <a:gridCol w="1280160"/>
                <a:gridCol w="1188720"/>
                <a:gridCol w="109728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marT="27432" marB="27432">
                    <a:solidFill>
                      <a:srgbClr val="1E4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Kalibrasi</a:t>
                      </a:r>
                    </a:p>
                  </a:txBody>
                  <a:tcPr marT="27432" marB="27432">
                    <a:solidFill>
                      <a:srgbClr val="1E4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marT="27432" marB="27432">
                    <a:solidFill>
                      <a:srgbClr val="1E4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Brier Score</a:t>
                      </a:r>
                    </a:p>
                  </a:txBody>
                  <a:tcPr marT="27432" marB="27432">
                    <a:solidFill>
                      <a:srgbClr val="1E4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 Loss</a:t>
                      </a:r>
                    </a:p>
                  </a:txBody>
                  <a:tcPr marT="27432" marB="27432">
                    <a:solidFill>
                      <a:srgbClr val="1E4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ECE</a:t>
                      </a:r>
                    </a:p>
                  </a:txBody>
                  <a:tcPr marT="27432" marB="27432">
                    <a:solidFill>
                      <a:srgbClr val="1E4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Akurasi</a:t>
                      </a:r>
                    </a:p>
                  </a:txBody>
                  <a:tcPr marT="27432" marB="27432">
                    <a:solidFill>
                      <a:srgbClr val="1E42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Logistic Regression (Baseline)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Raw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0.0273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0.116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0.057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96.2%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Logistic Regression (Baseline)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Platt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0.0317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0.143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0.075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96.2%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Logistic Regression (Baseline)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Isotonic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0.966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0.0724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1.437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0.075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92.3%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Raw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0.987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0.0421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0.145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0.081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92.3%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Platt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0.0696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0.242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0.122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96.2%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Isotonic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0.916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0.0801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2.670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0.088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92.3%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Raw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0.903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0.0973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0.489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0.101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88.5%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Platt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0.866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0.0936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0.349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0.071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88.5%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Isotonic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0.878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0.1007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2.751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0.059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88.5%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MLP Neural Network</a:t>
                      </a:r>
                    </a:p>
                  </a:txBody>
                  <a:tcPr marT="27432" marB="27432">
                    <a:solidFill>
                      <a:srgbClr val="E4EF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Raw</a:t>
                      </a:r>
                    </a:p>
                  </a:txBody>
                  <a:tcPr marT="27432" marB="27432">
                    <a:solidFill>
                      <a:srgbClr val="E4EF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marT="27432" marB="27432">
                    <a:solidFill>
                      <a:srgbClr val="E4EF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0.0127</a:t>
                      </a:r>
                    </a:p>
                  </a:txBody>
                  <a:tcPr marT="27432" marB="27432">
                    <a:solidFill>
                      <a:srgbClr val="E4EF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0.034</a:t>
                      </a:r>
                    </a:p>
                  </a:txBody>
                  <a:tcPr marT="27432" marB="27432">
                    <a:solidFill>
                      <a:srgbClr val="E4EF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 marT="27432" marB="27432">
                    <a:solidFill>
                      <a:srgbClr val="E4EF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96.2%</a:t>
                      </a:r>
                    </a:p>
                  </a:txBody>
                  <a:tcPr marT="27432" marB="27432">
                    <a:solidFill>
                      <a:srgbClr val="E4EFD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MLP Neural Network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Platt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0.0216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0.115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0.099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96.2%</a:t>
                      </a:r>
                    </a:p>
                  </a:txBody>
                  <a:tcPr marT="27432" marB="27432">
                    <a:solidFill>
                      <a:srgbClr val="F4F7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MLP Neural Network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Isotonic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0.0138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0.036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233324"/>
                          </a:solidFill>
                          <a:latin typeface="Calibri"/>
                        </a:defRPr>
                      </a:pPr>
                      <a:r>
                        <a:t>96.2%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B6B5C"/>
                </a:solidFill>
                <a:latin typeface="Calibri"/>
              </a:defRPr>
            </a:pPr>
            <a:r>
              <a:t>Akurasi dihitung pada threshold 0.5. Log Loss Isotonic tinggi karena kalibrator menghasilkan probabilitas tepat 0/1 pada sebagian task; ini wajar untuk kalibrator non-parametrik yang dilatih pada ±20 sampel per fold.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8A33D"/>
                </a:solidFill>
                <a:latin typeface="Calibri"/>
              </a:defRPr>
            </a:pPr>
            <a:r>
              <a:t>TEMUAN KUNCI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4220"/>
                </a:solidFill>
                <a:latin typeface="Cambria"/>
              </a:defRPr>
            </a:pPr>
            <a:r>
              <a:t>Apa yang Ditunjukkan Hasil Eksperimen?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5B6B5C"/>
                </a:solidFill>
                <a:latin typeface="Calibri"/>
              </a:defRPr>
            </a:pPr>
            <a:r>
              <a:t>Seluruh angka dibaca langsung dari keluaran experiment_pipeline.py.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PRE-02 — Prediksi Probabilitas Keterlambatan Proyek Multi Sumber Daya Terbatas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5B6B5C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760720" cy="3246120"/>
          </a:xfrm>
          <a:prstGeom prst="roundRect">
            <a:avLst/>
          </a:prstGeom>
          <a:solidFill>
            <a:srgbClr val="F4F7F1"/>
          </a:solidFill>
          <a:ln>
            <a:solidFill>
              <a:srgbClr val="D0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00" b="1">
                <a:solidFill>
                  <a:srgbClr val="2C5F2D"/>
                </a:solidFill>
                <a:latin typeface="Calibri"/>
              </a:rPr>
              <a:t>DISKRIMINASI  </a:t>
            </a:r>
            <a:r>
              <a:rPr sz="1200">
                <a:solidFill>
                  <a:srgbClr val="233324"/>
                </a:solidFill>
                <a:latin typeface="Calibri"/>
              </a:rPr>
              <a:t>ROC-AUC tertinggi 1.000 dicapai Logistic Regression (Baseline) dan MLP Neural Network.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5F2D"/>
                </a:solidFill>
                <a:latin typeface="Calibri"/>
              </a:rPr>
              <a:t>MODEL REKOMENDASI  </a:t>
            </a:r>
            <a:r>
              <a:rPr sz="1200">
                <a:solidFill>
                  <a:srgbClr val="233324"/>
                </a:solidFill>
                <a:latin typeface="Calibri"/>
              </a:rPr>
              <a:t>MLP Neural Network (tanpa kalibrasi): Brier 0.0127, ECE 0.023.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5F2D"/>
                </a:solidFill>
                <a:latin typeface="Calibri"/>
              </a:rPr>
              <a:t>EFEK KALIBRASI  </a:t>
            </a:r>
            <a:r>
              <a:rPr sz="1200">
                <a:solidFill>
                  <a:srgbClr val="233324"/>
                </a:solidFill>
                <a:latin typeface="Calibri"/>
              </a:rPr>
              <a:t>Kalibrasi menurunkan Brier Score pada Gradient Boosting; model lain tidak membaik.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5F2D"/>
                </a:solidFill>
                <a:latin typeface="Calibri"/>
              </a:rPr>
              <a:t>FITUR DOMINAN  </a:t>
            </a:r>
            <a:r>
              <a:rPr sz="1200">
                <a:solidFill>
                  <a:srgbClr val="233324"/>
                </a:solidFill>
                <a:latin typeface="Calibri"/>
              </a:rPr>
              <a:t>SPI_Value (0.310) dan Risk_Score (0.307) menurut MDI Random Forest.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5F2D"/>
                </a:solidFill>
                <a:latin typeface="Calibri"/>
              </a:rPr>
              <a:t>YOUDEN J  </a:t>
            </a:r>
            <a:r>
              <a:rPr sz="1200">
                <a:solidFill>
                  <a:srgbClr val="233324"/>
                </a:solidFill>
                <a:latin typeface="Calibri"/>
              </a:rPr>
              <a:t>θ* = 0.779 (Sensitivity 1.00, Specificity 1.00).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C5F2D"/>
                </a:solidFill>
                <a:latin typeface="Calibri"/>
              </a:rPr>
              <a:t>EWS  </a:t>
            </a:r>
            <a:r>
              <a:rPr sz="1200">
                <a:solidFill>
                  <a:srgbClr val="233324"/>
                </a:solidFill>
                <a:latin typeface="Calibri"/>
              </a:rPr>
              <a:t>Zona Merah menangkap 16/16 task terlambat dengan 0 alarm palsu; 0 task terlambat lolos ke zona Hijau.</a:t>
            </a:r>
          </a:p>
        </p:txBody>
      </p:sp>
      <p:pic>
        <p:nvPicPr>
          <p:cNvPr id="9" name="Picture 8" descr="feature_import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920240"/>
            <a:ext cx="4754880" cy="24629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47548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i="1">
                <a:solidFill>
                  <a:srgbClr val="5B6B5C"/>
                </a:solidFill>
                <a:latin typeface="Calibri"/>
              </a:defRPr>
            </a:pPr>
            <a:r>
              <a:t>Catatan: fitur multi sumber daya (Resource_Utilization_Rate, Predecessor_Count) bukan prediktor dominan pada data ini, sehingga hipotesis kendala multi sumber daya perlu dikaji ulang pada Bab IV.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8A33D"/>
                </a:solidFill>
                <a:latin typeface="Calibri"/>
              </a:defRPr>
            </a:pPr>
            <a:r>
              <a:t>STATUS &amp; ROADMAP KELANJUTAN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mbria"/>
              </a:defRPr>
            </a:pPr>
            <a:r>
              <a:t>Capaian Pertemuan 4:</a:t>
            </a:r>
            <a:br/>
            <a:r>
              <a:t>Desain Eksperimen Terimplementasi &amp; Arah Pertemuan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3383280" cy="292608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3832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8A33D"/>
                </a:solidFill>
                <a:latin typeface="Cambria"/>
              </a:defRPr>
            </a:pPr>
            <a:r>
              <a:t>1. Deliverables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4EFD8"/>
                </a:solidFill>
                <a:latin typeface="Calibri"/>
              </a:defRPr>
            </a:pPr>
            <a:r>
              <a:t>Flow &amp; 5 skenario eksperimen, experiment_pipeline.py (4 model + kalibrasi Platt/Isotonic, diverifikasi terhadap scikit-learn), dan draft Bab III Metodologi.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017520"/>
            <a:ext cx="3383280" cy="292608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33832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8A33D"/>
                </a:solidFill>
                <a:latin typeface="Cambria"/>
              </a:defRPr>
            </a:pPr>
            <a:r>
              <a:t>2. Keterbatasan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2336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4EFD8"/>
                </a:solidFill>
                <a:latin typeface="Calibri"/>
              </a:defRPr>
            </a:pPr>
            <a:r>
              <a:t>N = 26 dan data empiris-simulatif: ROC-AUC ≈ 1.0 berarti kelas hampir terpisah sempurna, sehingga hasil belum dapat digeneralisasi.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017520"/>
            <a:ext cx="3383280" cy="2926080"/>
          </a:xfrm>
          <a:prstGeom prst="roundRect">
            <a:avLst/>
          </a:prstGeom>
          <a:solidFill>
            <a:srgbClr val="2C5F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33832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8A33D"/>
                </a:solidFill>
                <a:latin typeface="Cambria"/>
              </a:defRPr>
            </a:pPr>
            <a:r>
              <a:t>3. Pertemuan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02336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4EFD8"/>
                </a:solidFill>
                <a:latin typeface="Calibri"/>
              </a:defRPr>
            </a:pPr>
            <a:r>
              <a:t>Validasi pada data proyek riil yang lebih besar, kaji ulang hipotesis multi sumber daya terhadap fitur dominan, dan susun Bab IV.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