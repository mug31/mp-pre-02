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4846320"/>
            <a:ext cx="3108960" cy="310896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8A33D"/>
                </a:solidFill>
                <a:latin typeface="Calibri"/>
              </a:defRPr>
            </a:pPr>
            <a:r>
              <a:t>PROGRESS PENELITIAN PERTEMUAN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mbria"/>
              </a:defRPr>
            </a:pPr>
            <a:r>
              <a:t>Implementasi Desain Eksperimen:</a:t>
            </a:r>
            <a:br/>
            <a:r>
              <a:t>Pemodelan Probabilitas Terkalibrasi &amp; Early Warning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4EFD8"/>
                </a:solidFill>
                <a:latin typeface="Calibri"/>
              </a:defRPr>
            </a:pPr>
            <a:r>
              <a:t>Topik PRE-02: Prediksi Probabilitas Keterlambatan Proyek Multi Sumber Daya Terbatas</a:t>
            </a:r>
            <a:br/>
            <a:r>
              <a:t>Studi Kasus: Portofolio Modul Pengembangan Super ERP Farm Nation Enterprise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7BC62"/>
                </a:solidFill>
                <a:latin typeface="Calibri"/>
              </a:defRPr>
            </a:pPr>
            <a:r>
              <a:t>Tim Peneliti PRE-02 | Mata Kuliah Manajemen Proyek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8A33D"/>
                </a:solidFill>
                <a:latin typeface="Calibri"/>
              </a:defRPr>
            </a:pPr>
            <a:r>
              <a:t>KESIAPAN FONDASI DATA (PERTEMUAN 3 RECAP)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4220"/>
                </a:solidFill>
                <a:latin typeface="Cambria"/>
              </a:defRPr>
            </a:pPr>
            <a:r>
              <a:t>Pondasi Empiris: Dataset Portofolio Modul Super ERP FNE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5B6B5C"/>
                </a:solidFill>
                <a:latin typeface="Calibri"/>
              </a:defRPr>
            </a:pPr>
            <a:r>
              <a:t>26 aktivitas inti modul ERP diekstraksi dari 8 dokumen PMP untuk pengujian eksperimen.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5B6B5C"/>
                </a:solidFill>
                <a:latin typeface="Calibri"/>
              </a:defRPr>
            </a:pPr>
            <a:r>
              <a:t>PRE-02 — Prediksi Probabilitas Keterlambatan Proyek Multi Sumber Daya Terbatas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5B6B5C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F4F7F1"/>
          </a:solidFill>
          <a:ln>
            <a:solidFill>
              <a:srgbClr val="D0D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C5F2D"/>
                </a:solidFill>
                <a:latin typeface="Calibri"/>
              </a:defRPr>
            </a:pPr>
            <a:r>
              <a:t>8 DOKUMEN PMP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4220"/>
                </a:solidFill>
                <a:latin typeface="Cambria"/>
              </a:defRPr>
            </a:pPr>
            <a:r>
              <a:t>Sumber Data PMP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3324"/>
                </a:solidFill>
                <a:latin typeface="Calibri"/>
              </a:defRPr>
            </a:pPr>
            <a:r>
              <a:t>Data diekstraksi dari 8 sub-proyek FNE (P-FNE-01 Foundation s.d P-FNE-08 Autonomous Enterprise) berstandar PMBOK dan INKINDO 2026.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F4F7F1"/>
          </a:solidFill>
          <a:ln>
            <a:solidFill>
              <a:srgbClr val="D0D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1031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C5F2D"/>
                </a:solidFill>
                <a:latin typeface="Calibri"/>
              </a:defRPr>
            </a:pPr>
            <a:r>
              <a:t>N = 26 TASKS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4688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4220"/>
                </a:solidFill>
                <a:latin typeface="Cambria"/>
              </a:defRPr>
            </a:pPr>
            <a:r>
              <a:t>Ukuran Sampel &amp; Distribusi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10896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3324"/>
                </a:solidFill>
                <a:latin typeface="Calibri"/>
              </a:defRPr>
            </a:pPr>
            <a:r>
              <a:t>N = 26 Aktivitas Operasional</a:t>
            </a:r>
            <a:br/>
            <a:r>
              <a:t>• Status Terlambat: 16 Modul (61.5%)</a:t>
            </a:r>
            <a:br/>
            <a:r>
              <a:t>• Status Tepat Waktu: 10 Modul (38.5%)</a:t>
            </a:r>
            <a:br/>
            <a:r>
              <a:t>Distribusi seimbang secara wajar.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F4F7F1"/>
          </a:solidFill>
          <a:ln>
            <a:solidFill>
              <a:srgbClr val="D0D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1031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C5F2D"/>
                </a:solidFill>
                <a:latin typeface="Calibri"/>
              </a:defRPr>
            </a:pPr>
            <a:r>
              <a:t>7 PREDIKTOR KUNCI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4688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4220"/>
                </a:solidFill>
                <a:latin typeface="Cambria"/>
              </a:defRPr>
            </a:pPr>
            <a:r>
              <a:t>Fitur Multi-Dimensi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10896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3324"/>
                </a:solidFill>
                <a:latin typeface="Calibri"/>
              </a:defRPr>
            </a:pPr>
            <a:r>
              <a:t>7 Variabel Masukan (X1..X7):</a:t>
            </a:r>
            <a:br/>
            <a:r>
              <a:t>• Durasi &amp; Person-Hours</a:t>
            </a:r>
            <a:br/>
            <a:r>
              <a:t>• Predecessor Count (Dependensi)</a:t>
            </a:r>
            <a:br/>
            <a:r>
              <a:t>• Resource Utilization Rate</a:t>
            </a:r>
            <a:br/>
            <a:r>
              <a:t>• Risk Score &amp; SPI Value</a:t>
            </a:r>
            <a:br/>
            <a:r>
              <a:t>• Scope Change Requests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8A33D"/>
                </a:solidFill>
                <a:latin typeface="Calibri"/>
              </a:defRPr>
            </a:pPr>
            <a:r>
              <a:t>PIPELINE ARSITEKTUR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4220"/>
                </a:solidFill>
                <a:latin typeface="Cambria"/>
              </a:defRPr>
            </a:pPr>
            <a:r>
              <a:t>Flowchart Alur Eksperimen Machine Learning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5B6B5C"/>
                </a:solidFill>
                <a:latin typeface="Calibri"/>
              </a:defRPr>
            </a:pPr>
            <a:r>
              <a:t>Rancangan proses standar saintifik adaptasi CRISP-DM untuk predictive project monitoring.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5B6B5C"/>
                </a:solidFill>
                <a:latin typeface="Calibri"/>
              </a:defRPr>
            </a:pPr>
            <a:r>
              <a:t>PRE-02 — Prediksi Probabilitas Keterlambatan Proyek Multi Sumber Daya Terbatas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5B6B5C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2011680"/>
          </a:xfrm>
          <a:prstGeom prst="roundRect">
            <a:avLst/>
          </a:prstGeom>
          <a:solidFill>
            <a:srgbClr val="F4F7F1"/>
          </a:solidFill>
          <a:ln>
            <a:solidFill>
              <a:srgbClr val="D0D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0116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A33D"/>
                </a:solidFill>
                <a:latin typeface="Calibri"/>
              </a:defRPr>
            </a:pPr>
            <a:r>
              <a:t>TAHAP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4220"/>
                </a:solidFill>
                <a:latin typeface="Cambria"/>
              </a:defRPr>
            </a:pPr>
            <a:r>
              <a:t>Data Ingestion &amp;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3324"/>
                </a:solidFill>
                <a:latin typeface="Calibri"/>
              </a:defRPr>
            </a:pPr>
            <a:r>
              <a:t>Pembacaan 26 modul FNE &amp; verifikasi integritas 7 fitur input.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383280" cy="2011680"/>
          </a:xfrm>
          <a:prstGeom prst="roundRect">
            <a:avLst/>
          </a:prstGeom>
          <a:solidFill>
            <a:srgbClr val="F4F7F1"/>
          </a:solidFill>
          <a:ln>
            <a:solidFill>
              <a:srgbClr val="D0D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116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A33D"/>
                </a:solidFill>
                <a:latin typeface="Calibri"/>
              </a:defRPr>
            </a:pPr>
            <a:r>
              <a:t>TAHAP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860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4220"/>
                </a:solidFill>
                <a:latin typeface="Cambria"/>
              </a:defRPr>
            </a:pPr>
            <a:r>
              <a:t>Partisi &amp; Penskalaan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788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3324"/>
                </a:solidFill>
                <a:latin typeface="Calibri"/>
              </a:defRPr>
            </a:pPr>
            <a:r>
              <a:t>Stratified 5-Fold CV &amp; StandardScaler terisolasi per fold.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383280" cy="2011680"/>
          </a:xfrm>
          <a:prstGeom prst="roundRect">
            <a:avLst/>
          </a:prstGeom>
          <a:solidFill>
            <a:srgbClr val="F4F7F1"/>
          </a:solidFill>
          <a:ln>
            <a:solidFill>
              <a:srgbClr val="D0D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01168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A33D"/>
                </a:solidFill>
                <a:latin typeface="Calibri"/>
              </a:defRPr>
            </a:pPr>
            <a:r>
              <a:t>TAHAP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2860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4220"/>
                </a:solidFill>
                <a:latin typeface="Cambria"/>
              </a:defRPr>
            </a:pPr>
            <a:r>
              <a:t>Pelatihan 4 Algoritma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788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3324"/>
                </a:solidFill>
                <a:latin typeface="Calibri"/>
              </a:defRPr>
            </a:pPr>
            <a:r>
              <a:t>Eksekusi LR Baseline, Random Forest, Gradient Boosting, dan MLP.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069080"/>
            <a:ext cx="3383280" cy="2011680"/>
          </a:xfrm>
          <a:prstGeom prst="roundRect">
            <a:avLst/>
          </a:prstGeom>
          <a:solidFill>
            <a:srgbClr val="F4F7F1"/>
          </a:solidFill>
          <a:ln>
            <a:solidFill>
              <a:srgbClr val="D0D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25196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A33D"/>
                </a:solidFill>
                <a:latin typeface="Calibri"/>
              </a:defRPr>
            </a:pPr>
            <a:r>
              <a:t>TAHAP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5262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4220"/>
                </a:solidFill>
                <a:latin typeface="Cambria"/>
              </a:defRPr>
            </a:pPr>
            <a:r>
              <a:t>Kalibrasi Probabilitas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0292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3324"/>
                </a:solidFill>
                <a:latin typeface="Calibri"/>
              </a:defRPr>
            </a:pPr>
            <a:r>
              <a:t>Koreksi distorsi kurva probabilitas via Isotonic &amp; Platt Scaling.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069080"/>
            <a:ext cx="3383280" cy="2011680"/>
          </a:xfrm>
          <a:prstGeom prst="roundRect">
            <a:avLst/>
          </a:prstGeom>
          <a:solidFill>
            <a:srgbClr val="F4F7F1"/>
          </a:solidFill>
          <a:ln>
            <a:solidFill>
              <a:srgbClr val="D0D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425196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A33D"/>
                </a:solidFill>
                <a:latin typeface="Calibri"/>
              </a:defRPr>
            </a:pPr>
            <a:r>
              <a:t>TAHAP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5262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4220"/>
                </a:solidFill>
                <a:latin typeface="Cambria"/>
              </a:defRPr>
            </a:pPr>
            <a:r>
              <a:t>Evaluasi Multi-Metrik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50292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3324"/>
                </a:solidFill>
                <a:latin typeface="Calibri"/>
              </a:defRPr>
            </a:pPr>
            <a:r>
              <a:t>Kalkulasi Brier Score, ROC-AUC, ECE, Log Loss, dan kurva keandalan.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069080"/>
            <a:ext cx="3383280" cy="2011680"/>
          </a:xfrm>
          <a:prstGeom prst="roundRect">
            <a:avLst/>
          </a:prstGeom>
          <a:solidFill>
            <a:srgbClr val="F4F7F1"/>
          </a:solidFill>
          <a:ln>
            <a:solidFill>
              <a:srgbClr val="D0D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425196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A33D"/>
                </a:solidFill>
                <a:latin typeface="Calibri"/>
              </a:defRPr>
            </a:pPr>
            <a:r>
              <a:t>TAHAP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5262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4220"/>
                </a:solidFill>
                <a:latin typeface="Cambria"/>
              </a:defRPr>
            </a:pPr>
            <a:r>
              <a:t>Early Warning EWS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502920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3324"/>
                </a:solidFill>
                <a:latin typeface="Calibri"/>
              </a:defRPr>
            </a:pPr>
            <a:r>
              <a:t>Translasi probabilitas ke 3 zona mitigasi risiko bagi Project Manager.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8A33D"/>
                </a:solidFill>
                <a:latin typeface="Calibri"/>
              </a:defRPr>
            </a:pPr>
            <a:r>
              <a:t>DESAIN SKENARIO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4220"/>
                </a:solidFill>
                <a:latin typeface="Cambria"/>
              </a:defRPr>
            </a:pPr>
            <a:r>
              <a:t>5 Skenario Eksperimen Pemodelan Probabilitas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5B6B5C"/>
                </a:solidFill>
                <a:latin typeface="Calibri"/>
              </a:defRPr>
            </a:pPr>
            <a:r>
              <a:t>Mengombinasikan model parametrik, ensemble non-linier, jaringan saraf tiruan, dan kalibrasi.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5B6B5C"/>
                </a:solidFill>
                <a:latin typeface="Calibri"/>
              </a:defRPr>
            </a:pPr>
            <a:r>
              <a:t>PRE-02 — Prediksi Probabilitas Keterlambatan Proyek Multi Sumber Daya Terbatas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5B6B5C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2057400" cy="4297680"/>
          </a:xfrm>
          <a:prstGeom prst="roundRect">
            <a:avLst/>
          </a:prstGeom>
          <a:solidFill>
            <a:srgbClr val="F4F7F1"/>
          </a:solidFill>
          <a:ln>
            <a:solidFill>
              <a:srgbClr val="D0D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C5F2D"/>
                </a:solidFill>
                <a:latin typeface="Calibri"/>
              </a:defRPr>
            </a:pPr>
            <a:r>
              <a:t>SKENARIO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220"/>
                </a:solidFill>
                <a:latin typeface="Cambria"/>
              </a:defRPr>
            </a:pPr>
            <a:r>
              <a:t>Logistic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A33D"/>
                </a:solidFill>
                <a:latin typeface="Calibri"/>
              </a:defRPr>
            </a:pPr>
            <a:r>
              <a:t>Baseline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83280"/>
            <a:ext cx="1783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3324"/>
                </a:solidFill>
                <a:latin typeface="Calibri"/>
              </a:defRPr>
            </a:pPr>
            <a:r>
              <a:t>Menghasilkan probabilitas terkalibrasi alami via fungsi sigmoid matematis. Berperan sebagai benchmark linear L2.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1828800"/>
            <a:ext cx="2057400" cy="4297680"/>
          </a:xfrm>
          <a:prstGeom prst="roundRect">
            <a:avLst/>
          </a:prstGeom>
          <a:solidFill>
            <a:srgbClr val="F4F7F1"/>
          </a:solidFill>
          <a:ln>
            <a:solidFill>
              <a:srgbClr val="D0D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63240" y="2057400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C5F2D"/>
                </a:solidFill>
                <a:latin typeface="Calibri"/>
              </a:defRPr>
            </a:pPr>
            <a:r>
              <a:t>SKENARIO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33172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220"/>
                </a:solidFill>
                <a:latin typeface="Cambria"/>
              </a:defRPr>
            </a:pPr>
            <a:r>
              <a:t>Random 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971800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A33D"/>
                </a:solidFill>
                <a:latin typeface="Calibri"/>
              </a:defRPr>
            </a:pPr>
            <a:r>
              <a:t>predict_proba Voting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383280"/>
            <a:ext cx="1783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3324"/>
                </a:solidFill>
                <a:latin typeface="Calibri"/>
              </a:defRPr>
            </a:pPr>
            <a:r>
              <a:t>Menggabungkan 100 decision trees secara paralel. Mengukur frekuensi voting probabilitas dan mengekstraksi Feature Importance.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1828800"/>
            <a:ext cx="2057400" cy="4297680"/>
          </a:xfrm>
          <a:prstGeom prst="roundRect">
            <a:avLst/>
          </a:prstGeom>
          <a:solidFill>
            <a:srgbClr val="F4F7F1"/>
          </a:solidFill>
          <a:ln>
            <a:solidFill>
              <a:srgbClr val="D0D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2057400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C5F2D"/>
                </a:solidFill>
                <a:latin typeface="Calibri"/>
              </a:defRPr>
            </a:pPr>
            <a:r>
              <a:t>SKENARIO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33172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220"/>
                </a:solidFill>
                <a:latin typeface="Cambria"/>
              </a:defRPr>
            </a:pPr>
            <a:r>
              <a:t>Gradient Boosting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2971800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A33D"/>
                </a:solidFill>
                <a:latin typeface="Calibri"/>
              </a:defRPr>
            </a:pPr>
            <a:r>
              <a:t>Loss Optimization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3383280"/>
            <a:ext cx="1783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3324"/>
                </a:solidFill>
                <a:latin typeface="Calibri"/>
              </a:defRPr>
            </a:pPr>
            <a:r>
              <a:t>Membangun pohon secara berurutan dengan minimisasi log-loss residual. Menawarkan daya pemisahan margin yang tinggi.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199" y="1828800"/>
            <a:ext cx="2057400" cy="4297680"/>
          </a:xfrm>
          <a:prstGeom prst="roundRect">
            <a:avLst/>
          </a:prstGeom>
          <a:solidFill>
            <a:srgbClr val="F4F7F1"/>
          </a:solidFill>
          <a:ln>
            <a:solidFill>
              <a:srgbClr val="D0D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59" y="2057400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C5F2D"/>
                </a:solidFill>
                <a:latin typeface="Calibri"/>
              </a:defRPr>
            </a:pPr>
            <a:r>
              <a:t>SKENARIO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59" y="233172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220"/>
                </a:solidFill>
                <a:latin typeface="Cambria"/>
              </a:defRPr>
            </a:pPr>
            <a:r>
              <a:t>MLP Neural 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59" y="2971800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A33D"/>
                </a:solidFill>
                <a:latin typeface="Calibri"/>
              </a:defRPr>
            </a:pPr>
            <a:r>
              <a:t>Deep Sigmoid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59" y="3383280"/>
            <a:ext cx="1783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3324"/>
                </a:solidFill>
                <a:latin typeface="Calibri"/>
              </a:defRPr>
            </a:pPr>
            <a:r>
              <a:t>Arsitektur 2 lapis tersembunyi (16-8 neuron) dengan aktivasi ReLU dan output neuron sigmoid tunggal.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1828800"/>
            <a:ext cx="2057400" cy="4297680"/>
          </a:xfrm>
          <a:prstGeom prst="roundRect">
            <a:avLst/>
          </a:prstGeom>
          <a:solidFill>
            <a:srgbClr val="F4F7F1"/>
          </a:solidFill>
          <a:ln>
            <a:solidFill>
              <a:srgbClr val="D0D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2057400"/>
            <a:ext cx="1783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C5F2D"/>
                </a:solidFill>
                <a:latin typeface="Calibri"/>
              </a:defRPr>
            </a:pPr>
            <a:r>
              <a:t>SKENARIO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233172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220"/>
                </a:solidFill>
                <a:latin typeface="Cambria"/>
              </a:defRPr>
            </a:pPr>
            <a:r>
              <a:t>Kalibrasi &amp; ECE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2971800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A33D"/>
                </a:solidFill>
                <a:latin typeface="Calibri"/>
              </a:defRPr>
            </a:pPr>
            <a:r>
              <a:t>Isotonic / Platt Scaling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3383280"/>
            <a:ext cx="1783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33324"/>
                </a:solidFill>
                <a:latin typeface="Calibri"/>
              </a:defRPr>
            </a:pPr>
            <a:r>
              <a:t>Evaluasi Expected Calibration Error (ECE) dan Reliability Diagram guna menjamin akurasi probabilitas numerik.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8A33D"/>
                </a:solidFill>
                <a:latin typeface="Calibri"/>
              </a:defRPr>
            </a:pPr>
            <a:r>
              <a:t>VALIDASI &amp; REPLIKASI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4220"/>
                </a:solidFill>
                <a:latin typeface="Cambria"/>
              </a:defRPr>
            </a:pPr>
            <a:r>
              <a:t>Protokol Kontrol Eksperimen &amp; Penanganan Data Terbatas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5B6B5C"/>
                </a:solidFill>
                <a:latin typeface="Calibri"/>
              </a:defRPr>
            </a:pPr>
            <a:r>
              <a:t>Menjamin integritas ilmiah, mencegah kebocoran data, dan mengunci replikasi hasil.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5B6B5C"/>
                </a:solidFill>
                <a:latin typeface="Calibri"/>
              </a:defRPr>
            </a:pPr>
            <a:r>
              <a:t>PRE-02 — Prediksi Probabilitas Keterlambatan Proyek Multi Sumber Daya Terbatas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5B6B5C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F4F7F1"/>
          </a:solidFill>
          <a:ln>
            <a:solidFill>
              <a:srgbClr val="D0D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A33D"/>
                </a:solidFill>
                <a:latin typeface="Calibri"/>
              </a:defRPr>
            </a:pPr>
            <a:r>
              <a:t>STRATEGI EVALUASI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4220"/>
                </a:solidFill>
                <a:latin typeface="Cambria"/>
              </a:defRPr>
            </a:pPr>
            <a:r>
              <a:t>Stratified 5-Fold CV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3324"/>
                </a:solidFill>
                <a:latin typeface="Calibri"/>
              </a:defRPr>
            </a:pPr>
            <a:r>
              <a:t>Mengingat N=26, Stratified K-Fold membagi data menjadi 5 lipatan dengan menjaga rasio 61.5% Delay : 38.5% On-Time di setiap iterasi pelatihan dan pengujian.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F4F7F1"/>
          </a:solidFill>
          <a:ln>
            <a:solidFill>
              <a:srgbClr val="D0D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1031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A33D"/>
                </a:solidFill>
                <a:latin typeface="Calibri"/>
              </a:defRPr>
            </a:pPr>
            <a:r>
              <a:t>PENCEGAHAN LEAKAGE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4688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4220"/>
                </a:solidFill>
                <a:latin typeface="Cambria"/>
              </a:defRPr>
            </a:pPr>
            <a:r>
              <a:t>Isolasi Standard Scaler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10896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3324"/>
                </a:solidFill>
                <a:latin typeface="Calibri"/>
              </a:defRPr>
            </a:pPr>
            <a:r>
              <a:t>Penskalaan fitur z-score (mean=0, std=1) dihitung HANYA dari data latih tiap fold, lalu diterapkan ke data uji. Mencegah fenomena data leakage.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F4F7F1"/>
          </a:solidFill>
          <a:ln>
            <a:solidFill>
              <a:srgbClr val="D0D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1031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8A33D"/>
                </a:solidFill>
                <a:latin typeface="Calibri"/>
              </a:defRPr>
            </a:pPr>
            <a:r>
              <a:t>REPLIKASI TERJAMIN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4688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4220"/>
                </a:solidFill>
                <a:latin typeface="Cambria"/>
              </a:defRPr>
            </a:pPr>
            <a:r>
              <a:t>Regularisasi &amp; Fixed Seed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10896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3324"/>
                </a:solidFill>
                <a:latin typeface="Calibri"/>
              </a:defRPr>
            </a:pPr>
            <a:r>
              <a:t>• Penguncian random_state = 42 untuk seluruh model.</a:t>
            </a:r>
            <a:br/>
            <a:r>
              <a:t>• Pembatasan max_depth (3-4) pada tree models.</a:t>
            </a:r>
            <a:br/>
            <a:r>
              <a:t>• Penalti L2 pada Logistic Regression &amp; MLP untuk kestabilan.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8A33D"/>
                </a:solidFill>
                <a:latin typeface="Calibri"/>
              </a:defRPr>
            </a:pPr>
            <a:r>
              <a:t>KRITERIA EVALUASI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4220"/>
                </a:solidFill>
                <a:latin typeface="Cambria"/>
              </a:defRPr>
            </a:pPr>
            <a:r>
              <a:t>Metrik Pengujian Kinerja Probabilistik &amp; Diskriminasi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5B6B5C"/>
                </a:solidFill>
                <a:latin typeface="Calibri"/>
              </a:defRPr>
            </a:pPr>
            <a:r>
              <a:t>Menilai tidak hanya ketepatan klasifikasi, tetapi juga tingkat keandalan numerik probabilitas.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5B6B5C"/>
                </a:solidFill>
                <a:latin typeface="Calibri"/>
              </a:defRPr>
            </a:pPr>
            <a:r>
              <a:t>PRE-02 — Prediksi Probabilitas Keterlambatan Proyek Multi Sumber Daya Terbatas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5B6B5C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F4F7F1"/>
          </a:solidFill>
          <a:ln>
            <a:solidFill>
              <a:srgbClr val="D0D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4220"/>
                </a:solidFill>
                <a:latin typeface="Cambria"/>
              </a:defRPr>
            </a:pPr>
            <a:r>
              <a:t>DIMENSI 1: KUALITAS PROBABILITAS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3324"/>
                </a:solidFill>
                <a:latin typeface="Calibri"/>
              </a:defRPr>
            </a:pPr>
            <a:r>
              <a:t>1. Brier Score (BS):</a:t>
            </a:r>
            <a:br/>
            <a:r>
              <a:t>Mengukur rata-rata kuadrat deviasi antara probabilitas estimasi dan luaran aktual (0-1). Semakin mendekati 0, semakin presisi.</a:t>
            </a:r>
            <a:br/>
            <a:br/>
            <a:r>
              <a:t>2. Expected Calibration Error (ECE):</a:t>
            </a:r>
            <a:br/>
            <a:r>
              <a:t>Mengukur kesenjangan absolut antara confidence level prediksi dan empirical accuracy dalam interval bin.</a:t>
            </a:r>
            <a:br/>
            <a:br/>
            <a:r>
              <a:t>3. Logarithmic Loss (Cross-Entropy):</a:t>
            </a:r>
            <a:br/>
            <a:r>
              <a:t>Memberikan penalti tajam terhadap prediksi probabilitas yang terlalu percaya diri (overconfident) namun salah.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F4F7F1"/>
          </a:solidFill>
          <a:ln>
            <a:solidFill>
              <a:srgbClr val="D0D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C5F2D"/>
                </a:solidFill>
                <a:latin typeface="Cambria"/>
              </a:defRPr>
            </a:pPr>
            <a:r>
              <a:t>DIMENSI 2: KEMAMPUAN DISKRIMINASI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3324"/>
                </a:solidFill>
                <a:latin typeface="Calibri"/>
              </a:defRPr>
            </a:pPr>
            <a:r>
              <a:t>1. ROC-AUC (Area Under ROC Curve):</a:t>
            </a:r>
            <a:br/>
            <a:r>
              <a:t>Mengukur kapasitas pemisahan modul terlambat vs tepat waktu di semua kemungkinan nilai threshold.</a:t>
            </a:r>
            <a:br/>
            <a:br/>
            <a:r>
              <a:t>2. Sensitivity (Recall) &amp; Specificity:</a:t>
            </a:r>
            <a:br/>
            <a:r>
              <a:t>Menilai kemampuan sistem mendeteksi keterlambatan nyata sekaligus meminimalkan alarm palsu (false alarm).</a:t>
            </a:r>
            <a:br/>
            <a:br/>
            <a:r>
              <a:t>3. F1-Score &amp; Accuracy:</a:t>
            </a:r>
            <a:br/>
            <a:r>
              <a:t>Evaluasi performa klasifikasi operasional pada titik threshold rekomendasi.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8A33D"/>
                </a:solidFill>
                <a:latin typeface="Calibri"/>
              </a:defRPr>
            </a:pPr>
            <a:r>
              <a:t>APLIKASI MANAJERIAL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4220"/>
                </a:solidFill>
                <a:latin typeface="Cambria"/>
              </a:defRPr>
            </a:pPr>
            <a:r>
              <a:t>Early Warning System (EWS): Translasi Probabilitas ke Mitigasi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5B6B5C"/>
                </a:solidFill>
                <a:latin typeface="Calibri"/>
              </a:defRPr>
            </a:pPr>
            <a:r>
              <a:t>Menerjemahkan taksiran probabilitas numerik menjadi kebijakan operasional nyata bagi Project Manager.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5B6B5C"/>
                </a:solidFill>
                <a:latin typeface="Calibri"/>
              </a:defRPr>
            </a:pPr>
            <a:r>
              <a:t>PRE-02 — Prediksi Probabilitas Keterlambatan Proyek Multi Sumber Daya Terbatas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5B6B5C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698480" cy="1325880"/>
          </a:xfrm>
          <a:prstGeom prst="roundRect">
            <a:avLst/>
          </a:prstGeom>
          <a:solidFill>
            <a:srgbClr val="F4F7F1"/>
          </a:solidFill>
          <a:ln>
            <a:solidFill>
              <a:srgbClr val="D0D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182880" cy="13258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9659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4220"/>
                </a:solidFill>
                <a:latin typeface="Cambria"/>
              </a:defRPr>
            </a:pPr>
            <a:r>
              <a:t>Zona Hijau: Normal / Low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6596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2C5F2D"/>
                </a:solidFill>
                <a:latin typeface="Calibri"/>
              </a:defRPr>
            </a:pPr>
            <a:r>
              <a:t>P(Delay) &lt; 0.35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7744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3324"/>
                </a:solidFill>
                <a:latin typeface="Calibri"/>
              </a:defRPr>
            </a:pPr>
            <a:r>
              <a:t>Kebijakan Manajerial: Kondisi stabil terkendali. Tidak diperlukan alokasi developer tambahan. Monitoring rutin mingguan.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37560"/>
            <a:ext cx="10698480" cy="1325880"/>
          </a:xfrm>
          <a:prstGeom prst="roundRect">
            <a:avLst/>
          </a:prstGeom>
          <a:solidFill>
            <a:srgbClr val="F4F7F1"/>
          </a:solidFill>
          <a:ln>
            <a:solidFill>
              <a:srgbClr val="D0D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337560"/>
            <a:ext cx="182880" cy="132588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47472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4220"/>
                </a:solidFill>
                <a:latin typeface="Cambria"/>
              </a:defRPr>
            </a:pPr>
            <a:r>
              <a:t>Zona Kuning: Moderate Risk / Watchlist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47472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E8A33D"/>
                </a:solidFill>
                <a:latin typeface="Calibri"/>
              </a:defRPr>
            </a:pPr>
            <a:r>
              <a:t>0.35 &lt;= P(Delay) &lt; 0.65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88620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3324"/>
                </a:solidFill>
                <a:latin typeface="Calibri"/>
              </a:defRPr>
            </a:pPr>
            <a:r>
              <a:t>Kebijakan Manajerial: Modul rawan terdampak cascading delay. Kunci scope changes, audit dependensi predecessor, koordinasi harian.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46320"/>
            <a:ext cx="10698480" cy="1325880"/>
          </a:xfrm>
          <a:prstGeom prst="roundRect">
            <a:avLst/>
          </a:prstGeom>
          <a:solidFill>
            <a:srgbClr val="F4F7F1"/>
          </a:solidFill>
          <a:ln>
            <a:solidFill>
              <a:srgbClr val="D0D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846320"/>
            <a:ext cx="182880" cy="1325880"/>
          </a:xfrm>
          <a:prstGeom prst="rect">
            <a:avLst/>
          </a:prstGeom>
          <a:solidFill>
            <a:srgbClr val="B33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98348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4220"/>
                </a:solidFill>
                <a:latin typeface="Cambria"/>
              </a:defRPr>
            </a:pPr>
            <a:r>
              <a:t>Zona Merah: Critical Alert / High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9834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B33927"/>
                </a:solidFill>
                <a:latin typeface="Calibri"/>
              </a:defRPr>
            </a:pPr>
            <a:r>
              <a:t>P(Delay) &gt;= 0.65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39496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3324"/>
                </a:solidFill>
                <a:latin typeface="Calibri"/>
              </a:defRPr>
            </a:pPr>
            <a:r>
              <a:t>Kebijakan Manajerial: Risiko keterlambatan sangat pasti. Tindakan korektif agresif: crashing alokasi developer, fast-tracking rilis, eskalasi ke Steering Committee.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8A33D"/>
                </a:solidFill>
                <a:latin typeface="Calibri"/>
              </a:defRPr>
            </a:pPr>
            <a:r>
              <a:t>STATUS &amp; ROADMAP KELANJUTAN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mbria"/>
              </a:defRPr>
            </a:pPr>
            <a:r>
              <a:t>Capaian Pertemuan 4 Siap 100%:</a:t>
            </a:r>
            <a:br/>
            <a:r>
              <a:t>Transisi Mulus Menuju Eksekusi &amp; Hasil (Pertemuan 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017520"/>
            <a:ext cx="3383280" cy="292608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3832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A33D"/>
                </a:solidFill>
                <a:latin typeface="Cambria"/>
              </a:defRPr>
            </a:pPr>
            <a:r>
              <a:t>1. Flowchart &amp; Skenario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02336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4EFD8"/>
                </a:solidFill>
                <a:latin typeface="Calibri"/>
              </a:defRPr>
            </a:pPr>
            <a:r>
              <a:t>Dokumen alur pemodelan CRISP-DM dan 5 skenario algoritma telah dibakukan secara metodologis.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017520"/>
            <a:ext cx="3383280" cy="292608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33832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A33D"/>
                </a:solidFill>
                <a:latin typeface="Cambria"/>
              </a:defRPr>
            </a:pPr>
            <a:r>
              <a:t>2. Script Python ML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402336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4EFD8"/>
                </a:solidFill>
                <a:latin typeface="Calibri"/>
              </a:defRPr>
            </a:pPr>
            <a:r>
              <a:t>Script 'experiment_pipeline.py' siap mengeksekusi 4 model, kalibrasi, plotting kurva ROC, dan ECE.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017520"/>
            <a:ext cx="3383280" cy="292608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33832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8A33D"/>
                </a:solidFill>
                <a:latin typeface="Cambria"/>
              </a:defRPr>
            </a:pPr>
            <a:r>
              <a:t>3. Draft Naskah Bab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402336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4EFD8"/>
                </a:solidFill>
                <a:latin typeface="Calibri"/>
              </a:defRPr>
            </a:pPr>
            <a:r>
              <a:t>Bab III Metodologi Penelitian telah ditulis lengkap mengikuti standar publikasi jurnal bereputasi.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