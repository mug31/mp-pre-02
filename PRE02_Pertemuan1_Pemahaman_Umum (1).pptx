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3MpTAAJWTcSGARIEXtNN+2IUi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3840480"/>
            <a:ext cx="5029200" cy="50292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149840" y="4572000"/>
            <a:ext cx="3566160" cy="3566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881360" y="5303520"/>
            <a:ext cx="2103120" cy="21031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PENELITIAN PRE-02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1463040"/>
            <a:ext cx="8778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Prediksi Probabilitas Keterlambatan Proyek Multi Sumber Daya Terbatas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640080" y="3429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Studi Kasus: Portofolio 8 Sub-Proyek Super ERP Farm Nation Enterprise (FNE)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640080" y="4160520"/>
            <a:ext cx="1463040" cy="0"/>
          </a:xfrm>
          <a:prstGeom prst="straightConnector1">
            <a:avLst/>
          </a:prstGeom>
          <a:noFill/>
          <a:ln cap="flat" cmpd="sng" w="3175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 txBox="1"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Pertemuan 1 — Pemahaman Umum Judul dan Konteks Penelitian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Fokus: Orientasi dan pemahaman awal topik penelitian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640075" y="5238958"/>
            <a:ext cx="73152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Nama Kelompok:</a:t>
            </a:r>
            <a:b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Mukti Baskara</a:t>
            </a:r>
            <a:b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Rafiq 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Muhammad Nailul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Agenda Presentasi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Empat komponen utama Progress 1 sesuai Rencana Progress Penelitian Mahasiswa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1463040" y="173736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Latar Belakang Masalah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463040" y="2093976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Kondisi subjek, permasalahan utama, dan urgensi solusi early warning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2898648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640080" y="28986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1463040" y="2852928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Tujuan dan Manfaat Penelitian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463040" y="3209544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Tujuan riset serta manfaat praktis-manajerial dan akademis-ilmiah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4014216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640080" y="40142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463040" y="3968496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Batasan dan Ruang Lingkup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463040" y="432511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Objek, fase fokus, sumber data, dan cakupan metode/algoritma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5129784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40080" y="512978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1463040" y="5084064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Identifikasi Variabel Penelitian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463040" y="544068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Tujuh variabel bebas (fitur monitoring) dan satu variabel terikat (probabilitas)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1. Latar Belakang Masalah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1417320"/>
            <a:ext cx="3611880" cy="4709160"/>
          </a:xfrm>
          <a:prstGeom prst="roundRect">
            <a:avLst>
              <a:gd fmla="val 2532" name="adj"/>
            </a:avLst>
          </a:prstGeom>
          <a:solidFill>
            <a:srgbClr val="F4F7F1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822960" y="235000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Kondisi Subjek Penelitian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822960" y="265176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Pengembangan Super ERP Farm Nation Enterprise (FNE) terdiri dari portofolio 8 sub-proyek terintegrasi (P-FNE-01 s.d. P-FNE-08) yang dieksekusi di bawah keterbatasan sumber daya.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6053328"/>
            <a:ext cx="3611880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453128" y="1417320"/>
            <a:ext cx="3611880" cy="4709160"/>
          </a:xfrm>
          <a:prstGeom prst="roundRect">
            <a:avLst>
              <a:gd fmla="val 2532" name="adj"/>
            </a:avLst>
          </a:prstGeom>
          <a:solidFill>
            <a:srgbClr val="F4F7F1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727448" y="169164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4727448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4727448" y="235000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Permasalahan Utama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727448" y="265176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Klasifikasi risiko konvensional (Low/Medium/High) kurang fleksibel. Manajemen membutuhkan estimasi kuantitatif berupa nilai probabilitas numerik (0-1) yang menggambarkan peluang keterlambatan secara riil.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453128" y="6053328"/>
            <a:ext cx="3611880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357616" y="1417320"/>
            <a:ext cx="3611880" cy="4709160"/>
          </a:xfrm>
          <a:prstGeom prst="roundRect">
            <a:avLst>
              <a:gd fmla="val 2532" name="adj"/>
            </a:avLst>
          </a:prstGeom>
          <a:solidFill>
            <a:srgbClr val="F4F7F1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631936" y="169164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8631936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8631936" y="2350008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Urgensi Solusi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631936" y="265176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Tanpa indikator probabilitas terkalibrasi, threshold krisis sulit ditentukan. Diperlukan early warning system berbasis Machine Learning agar mitigasi jadwal dapat dilakukan lebih awal.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357616" y="6053328"/>
            <a:ext cx="3611880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2. Tujuan Penelitian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1600200"/>
            <a:ext cx="11064240" cy="1691640"/>
          </a:xfrm>
          <a:prstGeom prst="roundRect">
            <a:avLst>
              <a:gd fmla="val 4324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1920240" y="1856232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Membangun Model Supervised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920240" y="23774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Memprediksi probabilitas numerik keterlambatan proyek berdasarkan kondisi aktual proyek pada tahap monitoring &amp; evaluation.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3611880"/>
            <a:ext cx="11064240" cy="1691640"/>
          </a:xfrm>
          <a:prstGeom prst="roundRect">
            <a:avLst>
              <a:gd fmla="val 4324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914400" y="4160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1920240" y="3867912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Mengembangkan Early Warning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1920240" y="438912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Sistem peringatan dini berbasis threshold probabilitas yang terkalibrasi secara akurat, sebagai dasar tindakan korektif.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Fokus akhir: mendukung risk-based decision making pada fase monitoring &amp; evaluation proyek.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2. Manfaat Penelitian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1463040"/>
            <a:ext cx="5394960" cy="4709160"/>
          </a:xfrm>
          <a:prstGeom prst="roundRect">
            <a:avLst>
              <a:gd fmla="val 1942" name="adj"/>
            </a:avLst>
          </a:prstGeom>
          <a:solidFill>
            <a:srgbClr val="1E4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914400" y="18288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1691640" y="187452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Manfaat Praktis / Manajerial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914400" y="256032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Memberikan dasar pengambilan keputusan berbasis risiko (risk-based decision making) bagi Project Manager (PM) dan pengelola FNE untuk: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1143000" y="335584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Mengidentifikasi proyek berisiko tinggi secara presisi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14400" y="4078224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1143000" y="395020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Mengalokasikan tindakan pemulihan jadwal lebih cepat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17920" y="1463040"/>
            <a:ext cx="5394960" cy="4709160"/>
          </a:xfrm>
          <a:prstGeom prst="roundRect">
            <a:avLst>
              <a:gd fmla="val 1942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583680" y="1828800"/>
            <a:ext cx="594360" cy="5943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6583680" y="18288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7360920" y="187452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Manfaat Akademis / Ilmiah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6583680" y="256032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Menyediakan kerangka kerja predictive monitoring probabilistik kuantitatif pada lingkungan pengelolaan portofolio ERP dengan keterbatasan sumber daya.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583680" y="3611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Metrik yang digunakan: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583680" y="40233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6583680" y="40233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Brier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046720" y="4023360"/>
            <a:ext cx="1051560" cy="411480"/>
          </a:xfrm>
          <a:prstGeom prst="roundRect">
            <a:avLst>
              <a:gd fmla="val 17778" name="adj"/>
            </a:avLst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8046720" y="402336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Log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235440" y="4023360"/>
            <a:ext cx="1874520" cy="411480"/>
          </a:xfrm>
          <a:prstGeom prst="roundRect">
            <a:avLst>
              <a:gd fmla="val 17778" name="adj"/>
            </a:avLst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9235440" y="40233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Calibration Curve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3. Batasan dan Ruang Lingkup Penelitian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1417320"/>
            <a:ext cx="5394960" cy="1920240"/>
          </a:xfrm>
          <a:prstGeom prst="roundRect">
            <a:avLst>
              <a:gd fmla="val 4286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804672" y="1673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463040" y="164592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Objek Penelitian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804672" y="2286000"/>
            <a:ext cx="48828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Portofolio 8 sub-proyek Super ERP FNE (P-FNE-01 s.d. P-FNE-08).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63640" y="1417320"/>
            <a:ext cx="5394960" cy="1920240"/>
          </a:xfrm>
          <a:prstGeom prst="roundRect">
            <a:avLst>
              <a:gd fmla="val 4286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519672" y="1673352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6519672" y="1673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178040" y="164592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Fase Fokus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519672" y="2286000"/>
            <a:ext cx="48828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Khusus tahap pengawasan operasional proyek (Monitoring &amp; Evaluation).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3611880"/>
            <a:ext cx="5394960" cy="1920240"/>
          </a:xfrm>
          <a:prstGeom prst="roundRect">
            <a:avLst>
              <a:gd fmla="val 4286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04672" y="3867912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804672" y="3867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463040" y="38404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Sumber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04672" y="4480560"/>
            <a:ext cx="48828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Data historis &amp; kondisi aktual aktivitas/task, diekstraksi dari dokumen PMP dan SRS Super ERP FNE.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263640" y="3611880"/>
            <a:ext cx="5394960" cy="1920240"/>
          </a:xfrm>
          <a:prstGeom prst="roundRect">
            <a:avLst>
              <a:gd fmla="val 4286" name="adj"/>
            </a:avLst>
          </a:prstGeom>
          <a:solidFill>
            <a:srgbClr val="F4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519672" y="3867912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6519672" y="3867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178040" y="38404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Cakupan Metode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519672" y="4480560"/>
            <a:ext cx="48828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32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3324"/>
                </a:solidFill>
                <a:latin typeface="Calibri"/>
                <a:ea typeface="Calibri"/>
                <a:cs typeface="Calibri"/>
                <a:sym typeface="Calibri"/>
              </a:rPr>
              <a:t>Algoritma klasifikasi probabilistik terkalibrasi: Logistic Regression, Random Forest, Gradient Boosting, Neural Network (sigmoid).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4. Identifikasi Variabel — Variabel Bebas (Features)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548640" y="987552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Kondisi aktual proyek pada tahap monitoring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115568" y="1545336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Progress Aktual vs Rencana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115568" y="18288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Persentase pencapaian fisik dibanding baseline jadwal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2496312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548640" y="24963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115568" y="2441448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Sisa Waktu hingga Deadline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115568" y="272491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Waktu kalender/hari kerja tersisa (time remaining)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3392424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548640" y="33924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1115568" y="333756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Backlog yang Tersisa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1115568" y="3621024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Volume pengerjaan / jumlah task tertunda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4288536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548640" y="4288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1115568" y="4233672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Tingkat Utilisasi Sumber Daya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1115568" y="451713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Beban kerja &amp; alokasi kapasitas developer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355080" y="1600200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635508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922008" y="1545336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Risiko Belum Dimitigasi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6922008" y="18288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Akumulasi risiko aktif tanpa penanganan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355080" y="2496312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6355080" y="24963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6922008" y="2441448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Frekuensi Perubahan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6922008" y="272491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Tingkat pengajuan change request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355080" y="3392424"/>
            <a:ext cx="420624" cy="420624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6355080" y="33924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6922008" y="333756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4220"/>
                </a:solidFill>
                <a:latin typeface="Calibri"/>
                <a:ea typeface="Calibri"/>
                <a:cs typeface="Calibri"/>
                <a:sym typeface="Calibri"/>
              </a:rPr>
              <a:t>Kinerja Dependency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6922008" y="3621024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Status keterlambatan predecessor/successor antar-subproyek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22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 Identifikasi Variabel — Variabel Terikat (Target)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017520" y="2103120"/>
            <a:ext cx="2743200" cy="2743200"/>
          </a:xfrm>
          <a:prstGeom prst="ellipse">
            <a:avLst/>
          </a:prstGeom>
          <a:noFill/>
          <a:ln cap="flat" cmpd="sng" w="381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337560" y="2423160"/>
            <a:ext cx="2103120" cy="21031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3017520" y="27889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P(Delay)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3017520" y="33375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 ≤ P ≤ 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6400800" y="20116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Probabilitas Keterlambatan Proyek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6400800" y="260604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Nilai numerik kuantitatif kontinu dalam rentang 0 hingga 1 yang menggambarkan seberapa besar peluang sebuah sub-proyek Super ERP FNE mengalami keterlambatan.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400800" y="4023360"/>
            <a:ext cx="5212080" cy="320040"/>
          </a:xfrm>
          <a:prstGeom prst="roundRect">
            <a:avLst>
              <a:gd fmla="val 48571" name="adj"/>
            </a:avLst>
          </a:prstGeom>
          <a:solidFill>
            <a:srgbClr val="3A6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400800" y="4023360"/>
            <a:ext cx="3566160" cy="320040"/>
          </a:xfrm>
          <a:prstGeom prst="roundRect">
            <a:avLst>
              <a:gd fmla="val 48571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6400800" y="43891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0.0  (aman)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9326880" y="43891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1.0  (kritis)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6400800" y="48920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Contoh: threshold peringatan dini pada P = 0.70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22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-731520" y="-731520"/>
            <a:ext cx="2834640" cy="28346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640080" y="20116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Terima Kasih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Rencana penelitian PRE-02 siap dilanjutkan ke tahap berikutnya.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40080" y="3566160"/>
            <a:ext cx="10789920" cy="1143000"/>
          </a:xfrm>
          <a:prstGeom prst="roundRect">
            <a:avLst>
              <a:gd fmla="val 6400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914400" y="3794760"/>
            <a:ext cx="594360" cy="5943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914400" y="37947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22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422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1691640" y="3703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Selanjutnya — Pertemuan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691640" y="4069080"/>
            <a:ext cx="9418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F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4EFD8"/>
                </a:solidFill>
                <a:latin typeface="Calibri"/>
                <a:ea typeface="Calibri"/>
                <a:cs typeface="Calibri"/>
                <a:sym typeface="Calibri"/>
              </a:rPr>
              <a:t>Studi literatur dan perumusan research gap: pencarian paper relevan, tabel matriks literatur (5-10 referensi), dan draft tinjauan pustaka.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PRE-02 — Prediksi Probabilitas Keterlambatan Proyek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5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2026-09-19T05:14:01Z</dcterms:created>
  <dc:creator>PptxGenJS</dc:creator>
</cp:coreProperties>
</file>