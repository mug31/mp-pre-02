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220"/>
        </a:solidFill>
        <a:effectLst/>
      </p:bgPr>
    </p:bg>
    <p:spTree>
      <p:nvGrpSpPr>
        <p:cNvPr id="1" name=""/>
        <p:cNvGrpSpPr/>
        <p:nvPr/>
      </p:nvGrpSpPr>
      <p:grpSpPr/>
      <p:sp>
        <p:nvSpPr>
          <p:cNvPr id="2" name="Oval 1"/>
          <p:cNvSpPr/>
          <p:nvPr/>
        </p:nvSpPr>
        <p:spPr>
          <a:xfrm>
            <a:off x="9601200" y="4114800"/>
            <a:ext cx="4572000" cy="457200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4846320"/>
            <a:ext cx="3108960" cy="3108960"/>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8229600" cy="365760"/>
          </a:xfrm>
          <a:prstGeom prst="rect">
            <a:avLst/>
          </a:prstGeom>
          <a:noFill/>
        </p:spPr>
        <p:txBody>
          <a:bodyPr wrap="square" lIns="0" tIns="0" rIns="0" bIns="0">
            <a:spAutoFit/>
          </a:bodyPr>
          <a:lstStyle/>
          <a:p>
            <a:pPr algn="l">
              <a:lnSpc>
                <a:spcPct val="100000"/>
              </a:lnSpc>
              <a:defRPr sz="1400" b="1">
                <a:solidFill>
                  <a:srgbClr val="E8A33D"/>
                </a:solidFill>
                <a:latin typeface="Calibri"/>
              </a:defRPr>
            </a:pPr>
            <a:r>
              <a:t>PROGRES PENELITIAN PERTEMUAN 1–5</a:t>
            </a:r>
          </a:p>
        </p:txBody>
      </p:sp>
      <p:sp>
        <p:nvSpPr>
          <p:cNvPr id="5" name="TextBox 4"/>
          <p:cNvSpPr txBox="1"/>
          <p:nvPr/>
        </p:nvSpPr>
        <p:spPr>
          <a:xfrm>
            <a:off x="731520" y="1600200"/>
            <a:ext cx="9601200" cy="2011680"/>
          </a:xfrm>
          <a:prstGeom prst="rect">
            <a:avLst/>
          </a:prstGeom>
          <a:noFill/>
        </p:spPr>
        <p:txBody>
          <a:bodyPr wrap="square" lIns="0" tIns="0" rIns="0" bIns="0">
            <a:spAutoFit/>
          </a:bodyPr>
          <a:lstStyle/>
          <a:p>
            <a:pPr algn="l">
              <a:lnSpc>
                <a:spcPct val="110000"/>
              </a:lnSpc>
              <a:defRPr sz="3400" b="1">
                <a:solidFill>
                  <a:srgbClr val="FFFFFF"/>
                </a:solidFill>
                <a:latin typeface="Cambria"/>
              </a:defRPr>
            </a:pPr>
            <a:r>
              <a:t>Prediksi Probabilitas Keterlambatan</a:t>
            </a:r>
          </a:p>
          <a:p>
            <a:pPr algn="l">
              <a:lnSpc>
                <a:spcPct val="110000"/>
              </a:lnSpc>
              <a:defRPr sz="3400" b="1">
                <a:solidFill>
                  <a:srgbClr val="FFFFFF"/>
                </a:solidFill>
                <a:latin typeface="Cambria"/>
              </a:defRPr>
            </a:pPr>
            <a:r>
              <a:t>Proyek Multi Sumber Daya Terbatas</a:t>
            </a:r>
          </a:p>
        </p:txBody>
      </p:sp>
      <p:sp>
        <p:nvSpPr>
          <p:cNvPr id="6" name="TextBox 5"/>
          <p:cNvSpPr txBox="1"/>
          <p:nvPr/>
        </p:nvSpPr>
        <p:spPr>
          <a:xfrm>
            <a:off x="731520" y="3520440"/>
            <a:ext cx="9144000" cy="914400"/>
          </a:xfrm>
          <a:prstGeom prst="rect">
            <a:avLst/>
          </a:prstGeom>
          <a:noFill/>
        </p:spPr>
        <p:txBody>
          <a:bodyPr wrap="square" lIns="0" tIns="0" rIns="0" bIns="0">
            <a:spAutoFit/>
          </a:bodyPr>
          <a:lstStyle/>
          <a:p>
            <a:pPr algn="l">
              <a:lnSpc>
                <a:spcPct val="130000"/>
              </a:lnSpc>
              <a:defRPr sz="1300" b="0">
                <a:solidFill>
                  <a:srgbClr val="E4EFD8"/>
                </a:solidFill>
                <a:latin typeface="Calibri"/>
              </a:defRPr>
            </a:pPr>
            <a:r>
              <a:t>Studi Kasus: Portofolio 8 Modul Super ERP Farm Nation Enterprise (FNE) 2026</a:t>
            </a:r>
          </a:p>
          <a:p>
            <a:pPr algn="l">
              <a:lnSpc>
                <a:spcPct val="130000"/>
              </a:lnSpc>
              <a:defRPr sz="1300" b="0">
                <a:solidFill>
                  <a:srgbClr val="E4EFD8"/>
                </a:solidFill>
                <a:latin typeface="Calibri"/>
              </a:defRPr>
            </a:pPr>
            <a:r>
              <a:t>Dari pemahaman masalah hingga pelaksanaan eksperimen dan hasil awal</a:t>
            </a:r>
          </a:p>
        </p:txBody>
      </p:sp>
      <p:sp>
        <p:nvSpPr>
          <p:cNvPr id="7" name="TextBox 6"/>
          <p:cNvSpPr txBox="1"/>
          <p:nvPr/>
        </p:nvSpPr>
        <p:spPr>
          <a:xfrm>
            <a:off x="731520" y="5074920"/>
            <a:ext cx="7315200" cy="1005840"/>
          </a:xfrm>
          <a:prstGeom prst="rect">
            <a:avLst/>
          </a:prstGeom>
          <a:noFill/>
        </p:spPr>
        <p:txBody>
          <a:bodyPr wrap="square" lIns="0" tIns="0" rIns="0" bIns="0">
            <a:spAutoFit/>
          </a:bodyPr>
          <a:lstStyle/>
          <a:p>
            <a:pPr algn="l">
              <a:lnSpc>
                <a:spcPct val="130000"/>
              </a:lnSpc>
              <a:defRPr sz="1200" b="0">
                <a:solidFill>
                  <a:srgbClr val="97BC62"/>
                </a:solidFill>
                <a:latin typeface="Calibri"/>
              </a:defRPr>
            </a:pPr>
            <a:r>
              <a:t>Mukti Baskara  ·  Muhammad Nailul  ·  Rafiq</a:t>
            </a:r>
          </a:p>
          <a:p>
            <a:pPr algn="l">
              <a:lnSpc>
                <a:spcPct val="130000"/>
              </a:lnSpc>
              <a:defRPr sz="1200" b="0">
                <a:solidFill>
                  <a:srgbClr val="97BC62"/>
                </a:solidFill>
                <a:latin typeface="Calibri"/>
              </a:defRPr>
            </a:pPr>
            <a:r>
              <a:t>Manajemen Proyek — PRE-02  ·  September 2026</a:t>
            </a:r>
          </a:p>
        </p:txBody>
      </p:sp>
      <p:sp>
        <p:nvSpPr>
          <p:cNvPr id="8" name="TextBox 7"/>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9" name="TextBox 8"/>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RINGKASAN CAPAIAN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Peta Progres Pertemuan 1–5 dan Pemenuhan Output</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Setiap pertemuan diverifikasi terhadap daftar output pada dokumen Rencana Progress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2</a:t>
            </a:r>
          </a:p>
        </p:txBody>
      </p:sp>
      <p:graphicFrame>
        <p:nvGraphicFramePr>
          <p:cNvPr id="7" name="Table 6"/>
          <p:cNvGraphicFramePr>
            <a:graphicFrameLocks noGrp="1"/>
          </p:cNvGraphicFramePr>
          <p:nvPr/>
        </p:nvGraphicFramePr>
        <p:xfrm>
          <a:off x="731520" y="1874519"/>
          <a:ext cx="10744200" cy="3438144"/>
        </p:xfrm>
        <a:graphic>
          <a:graphicData uri="http://schemas.openxmlformats.org/drawingml/2006/table">
            <a:tbl>
              <a:tblPr firstRow="1" bandRow="1">
                <a:tableStyleId>{5C22544A-7EE6-4342-B048-85BDC9FD1C3A}</a:tableStyleId>
              </a:tblPr>
              <a:tblGrid>
                <a:gridCol w="2148840"/>
                <a:gridCol w="3017520"/>
                <a:gridCol w="4206240"/>
                <a:gridCol w="1371600"/>
              </a:tblGrid>
              <a:tr h="603504">
                <a:tc>
                  <a:txBody>
                    <a:bodyPr/>
                    <a:lstStyle/>
                    <a:p>
                      <a:pPr algn="l">
                        <a:defRPr sz="1050" b="1">
                          <a:solidFill>
                            <a:srgbClr val="FFFFFF"/>
                          </a:solidFill>
                          <a:latin typeface="Calibri"/>
                        </a:defRPr>
                      </a:pPr>
                      <a:r>
                        <a:t>Pertemuan</a:t>
                      </a:r>
                    </a:p>
                  </a:txBody>
                  <a:tcPr marL="73152" marR="73152" marT="18288" marB="18288" anchor="ctr">
                    <a:solidFill>
                      <a:srgbClr val="1E4220"/>
                    </a:solidFill>
                  </a:tcPr>
                </a:tc>
                <a:tc>
                  <a:txBody>
                    <a:bodyPr/>
                    <a:lstStyle/>
                    <a:p>
                      <a:pPr algn="l">
                        <a:defRPr sz="1050" b="1">
                          <a:solidFill>
                            <a:srgbClr val="FFFFFF"/>
                          </a:solidFill>
                          <a:latin typeface="Calibri"/>
                        </a:defRPr>
                      </a:pPr>
                      <a:r>
                        <a:t>Output yang diminta</a:t>
                      </a:r>
                    </a:p>
                  </a:txBody>
                  <a:tcPr marL="73152" marR="73152" marT="18288" marB="18288" anchor="ctr">
                    <a:solidFill>
                      <a:srgbClr val="1E4220"/>
                    </a:solidFill>
                  </a:tcPr>
                </a:tc>
                <a:tc>
                  <a:txBody>
                    <a:bodyPr/>
                    <a:lstStyle/>
                    <a:p>
                      <a:pPr algn="l">
                        <a:defRPr sz="1050" b="1">
                          <a:solidFill>
                            <a:srgbClr val="FFFFFF"/>
                          </a:solidFill>
                          <a:latin typeface="Calibri"/>
                        </a:defRPr>
                      </a:pPr>
                      <a:r>
                        <a:t>Luaran yang dihasilkan</a:t>
                      </a:r>
                    </a:p>
                  </a:txBody>
                  <a:tcPr marL="73152" marR="73152" marT="18288" marB="18288" anchor="ctr">
                    <a:solidFill>
                      <a:srgbClr val="1E4220"/>
                    </a:solidFill>
                  </a:tcPr>
                </a:tc>
                <a:tc>
                  <a:txBody>
                    <a:bodyPr/>
                    <a:lstStyle/>
                    <a:p>
                      <a:pPr algn="ctr">
                        <a:defRPr sz="1050" b="1">
                          <a:solidFill>
                            <a:srgbClr val="FFFFFF"/>
                          </a:solidFill>
                          <a:latin typeface="Calibri"/>
                        </a:defRPr>
                      </a:pPr>
                      <a:r>
                        <a:t>Status</a:t>
                      </a:r>
                    </a:p>
                  </a:txBody>
                  <a:tcPr marL="73152" marR="73152" marT="18288" marB="18288" anchor="ctr">
                    <a:solidFill>
                      <a:srgbClr val="1E4220"/>
                    </a:solidFill>
                  </a:tcPr>
                </a:tc>
              </a:tr>
              <a:tr h="566928">
                <a:tc>
                  <a:txBody>
                    <a:bodyPr/>
                    <a:lstStyle/>
                    <a:p>
                      <a:pPr algn="l">
                        <a:defRPr sz="1050" b="0">
                          <a:solidFill>
                            <a:srgbClr val="233324"/>
                          </a:solidFill>
                          <a:latin typeface="Calibri"/>
                        </a:defRPr>
                      </a:pPr>
                      <a:r>
                        <a:t>P1 — Pemahaman umum</a:t>
                      </a:r>
                    </a:p>
                  </a:txBody>
                  <a:tcPr marL="73152" marR="73152" marT="18288" marB="18288" anchor="ctr">
                    <a:solidFill>
                      <a:srgbClr val="FFFFFF"/>
                    </a:solidFill>
                  </a:tcPr>
                </a:tc>
                <a:tc>
                  <a:txBody>
                    <a:bodyPr/>
                    <a:lstStyle/>
                    <a:p>
                      <a:pPr algn="l">
                        <a:defRPr sz="1050" b="0">
                          <a:solidFill>
                            <a:srgbClr val="233324"/>
                          </a:solidFill>
                          <a:latin typeface="Calibri"/>
                        </a:defRPr>
                      </a:pPr>
                      <a:r>
                        <a:t>Slide rencana penelitian</a:t>
                      </a:r>
                    </a:p>
                  </a:txBody>
                  <a:tcPr marL="73152" marR="73152" marT="18288" marB="18288" anchor="ctr">
                    <a:solidFill>
                      <a:srgbClr val="FFFFFF"/>
                    </a:solidFill>
                  </a:tcPr>
                </a:tc>
                <a:tc>
                  <a:txBody>
                    <a:bodyPr/>
                    <a:lstStyle/>
                    <a:p>
                      <a:pPr algn="l">
                        <a:defRPr sz="1050" b="0">
                          <a:solidFill>
                            <a:srgbClr val="233324"/>
                          </a:solidFill>
                          <a:latin typeface="Calibri"/>
                        </a:defRPr>
                      </a:pPr>
                      <a:r>
                        <a:t>Slide P1 (9 slide) + rekap di dek ini</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P2 — Studi literatur</a:t>
                      </a:r>
                    </a:p>
                  </a:txBody>
                  <a:tcPr marL="73152" marR="73152" marT="18288" marB="18288" anchor="ctr">
                    <a:solidFill>
                      <a:srgbClr val="F4F7F1"/>
                    </a:solidFill>
                  </a:tcPr>
                </a:tc>
                <a:tc>
                  <a:txBody>
                    <a:bodyPr/>
                    <a:lstStyle/>
                    <a:p>
                      <a:pPr algn="l">
                        <a:defRPr sz="1050" b="0">
                          <a:solidFill>
                            <a:srgbClr val="233324"/>
                          </a:solidFill>
                          <a:latin typeface="Calibri"/>
                        </a:defRPr>
                      </a:pPr>
                      <a:r>
                        <a:t>Matriks literatur 5–10 referensi; draft tinjauan pustaka</a:t>
                      </a:r>
                    </a:p>
                  </a:txBody>
                  <a:tcPr marL="73152" marR="73152" marT="18288" marB="18288" anchor="ctr">
                    <a:solidFill>
                      <a:srgbClr val="F4F7F1"/>
                    </a:solidFill>
                  </a:tcPr>
                </a:tc>
                <a:tc>
                  <a:txBody>
                    <a:bodyPr/>
                    <a:lstStyle/>
                    <a:p>
                      <a:pPr algn="l">
                        <a:defRPr sz="1050" b="0">
                          <a:solidFill>
                            <a:srgbClr val="233324"/>
                          </a:solidFill>
                          <a:latin typeface="Calibri"/>
                        </a:defRPr>
                      </a:pPr>
                      <a:r>
                        <a:t>Matriks 8 paper inti + tabel 28 referensi; draft Bab II + research gap</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P3 — Persiapan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 siap pakai; dokumentasi preprocessing; deskripsi karakteristik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dataset_pre02_fne.csv (N = 26 × 7 fitur); dokumen P3 lengkap</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P4 — Implementasi desain</a:t>
                      </a:r>
                    </a:p>
                  </a:txBody>
                  <a:tcPr marL="73152" marR="73152" marT="18288" marB="18288" anchor="ctr">
                    <a:solidFill>
                      <a:srgbClr val="F4F7F1"/>
                    </a:solidFill>
                  </a:tcPr>
                </a:tc>
                <a:tc>
                  <a:txBody>
                    <a:bodyPr/>
                    <a:lstStyle/>
                    <a:p>
                      <a:pPr algn="l">
                        <a:defRPr sz="1050" b="0">
                          <a:solidFill>
                            <a:srgbClr val="233324"/>
                          </a:solidFill>
                          <a:latin typeface="Calibri"/>
                        </a:defRPr>
                      </a:pPr>
                      <a:r>
                        <a:t>Flow eksperimen; script/tools; draft metodologi</a:t>
                      </a:r>
                    </a:p>
                  </a:txBody>
                  <a:tcPr marL="73152" marR="73152" marT="18288" marB="18288" anchor="ctr">
                    <a:solidFill>
                      <a:srgbClr val="F4F7F1"/>
                    </a:solidFill>
                  </a:tcPr>
                </a:tc>
                <a:tc>
                  <a:txBody>
                    <a:bodyPr/>
                    <a:lstStyle/>
                    <a:p>
                      <a:pPr algn="l">
                        <a:defRPr sz="1050" b="0">
                          <a:solidFill>
                            <a:srgbClr val="233324"/>
                          </a:solidFill>
                          <a:latin typeface="Calibri"/>
                        </a:defRPr>
                      </a:pPr>
                      <a:r>
                        <a:t>Flow + 5 skenario; experiment_pipeline.py; draft Bab III</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P5 —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Dataset hasil eksperimen; log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5 berkas hasil (metrik, prediksi, 3 grafik) + ringkasan temuan otomatis</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bl>
          </a:graphicData>
        </a:graphic>
      </p:graphicFrame>
      <p:sp>
        <p:nvSpPr>
          <p:cNvPr id="8" name="TextBox 7"/>
          <p:cNvSpPr txBox="1"/>
          <p:nvPr/>
        </p:nvSpPr>
        <p:spPr>
          <a:xfrm>
            <a:off x="731520" y="5623560"/>
            <a:ext cx="10744200" cy="640080"/>
          </a:xfrm>
          <a:prstGeom prst="rect">
            <a:avLst/>
          </a:prstGeom>
          <a:noFill/>
        </p:spPr>
        <p:txBody>
          <a:bodyPr wrap="square" lIns="0" tIns="0" rIns="0" bIns="0">
            <a:spAutoFit/>
          </a:bodyPr>
          <a:lstStyle/>
          <a:p>
            <a:pPr algn="l">
              <a:lnSpc>
                <a:spcPct val="100000"/>
              </a:lnSpc>
              <a:defRPr sz="1150" b="1">
                <a:solidFill>
                  <a:srgbClr val="2C5F2D"/>
                </a:solidFill>
                <a:latin typeface="Calibri"/>
              </a:defRPr>
            </a:pPr>
            <a:r>
              <a:t>Alur naratif:  P1 apa masalahnya  →  P2 apa celah penelitiannya  →  P3 datanya apa  →  P4 bagaimana mengujinya  →  P5 apa hasilnya.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Latar Belakang dan Rumusan Masalah</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Klasifikasi risiko kualitatif tidak memberi ambang tindakan yang terukur bagi Project Manager</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3</a:t>
            </a:r>
          </a:p>
        </p:txBody>
      </p:sp>
      <p:sp>
        <p:nvSpPr>
          <p:cNvPr id="7" name="Rounded Rectangle 6"/>
          <p:cNvSpPr/>
          <p:nvPr/>
        </p:nvSpPr>
        <p:spPr>
          <a:xfrm>
            <a:off x="731520" y="1828800"/>
            <a:ext cx="52120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KONTEKS PROYEK</a:t>
            </a:r>
          </a:p>
        </p:txBody>
      </p:sp>
      <p:sp>
        <p:nvSpPr>
          <p:cNvPr id="9" name="TextBox 8"/>
          <p:cNvSpPr txBox="1"/>
          <p:nvPr/>
        </p:nvSpPr>
        <p:spPr>
          <a:xfrm>
            <a:off x="1005840" y="2468880"/>
            <a:ext cx="4663440" cy="32918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FNE menjalankan 8 sub-proyek ERP terintegrasi (P-FNE-01 s.d. P-FNE-08) secara paralel.</a:t>
            </a:r>
          </a:p>
          <a:p>
            <a:pPr algn="l">
              <a:lnSpc>
                <a:spcPct val="135000"/>
              </a:lnSpc>
              <a:defRPr sz="1100" b="0">
                <a:solidFill>
                  <a:srgbClr val="233324"/>
                </a:solidFill>
                <a:latin typeface="Calibri"/>
              </a:defRPr>
            </a:pPr>
            <a:r>
              <a:t>•  Seluruh sub-proyek berbagi sumber daya developer yang terbatas.</a:t>
            </a:r>
          </a:p>
          <a:p>
            <a:pPr algn="l">
              <a:lnSpc>
                <a:spcPct val="135000"/>
              </a:lnSpc>
              <a:defRPr sz="1100" b="0">
                <a:solidFill>
                  <a:srgbClr val="233324"/>
                </a:solidFill>
                <a:latin typeface="Calibri"/>
              </a:defRPr>
            </a:pPr>
            <a:r>
              <a:t>•  Antar-modul terdapat ketergantungan teknis, sehingga keterlambatan satu modul merambat ke modul turunannya.</a:t>
            </a:r>
          </a:p>
          <a:p>
            <a:pPr algn="l">
              <a:lnSpc>
                <a:spcPct val="135000"/>
              </a:lnSpc>
              <a:defRPr sz="1100" b="0">
                <a:solidFill>
                  <a:srgbClr val="233324"/>
                </a:solidFill>
                <a:latin typeface="Calibri"/>
              </a:defRPr>
            </a:pPr>
            <a:r>
              <a:t>•  Monitoring berjalan pada dokumen PMP dan laporan progres berkala.</a:t>
            </a:r>
          </a:p>
        </p:txBody>
      </p:sp>
      <p:sp>
        <p:nvSpPr>
          <p:cNvPr id="10" name="Rounded Rectangle 9"/>
          <p:cNvSpPr/>
          <p:nvPr/>
        </p:nvSpPr>
        <p:spPr>
          <a:xfrm>
            <a:off x="6263640" y="1828800"/>
            <a:ext cx="5212080" cy="416052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3796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MASALAH YANG DIANGKAT</a:t>
            </a:r>
          </a:p>
        </p:txBody>
      </p:sp>
      <p:sp>
        <p:nvSpPr>
          <p:cNvPr id="12" name="TextBox 11"/>
          <p:cNvSpPr txBox="1"/>
          <p:nvPr/>
        </p:nvSpPr>
        <p:spPr>
          <a:xfrm>
            <a:off x="6537960" y="2468880"/>
            <a:ext cx="4663440" cy="23774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Status risiko hanya berupa label kualitatif Low / Medium / High.</a:t>
            </a:r>
          </a:p>
          <a:p>
            <a:pPr algn="l">
              <a:lnSpc>
                <a:spcPct val="135000"/>
              </a:lnSpc>
              <a:defRPr sz="1100" b="0">
                <a:solidFill>
                  <a:srgbClr val="233324"/>
                </a:solidFill>
                <a:latin typeface="Calibri"/>
              </a:defRPr>
            </a:pPr>
            <a:r>
              <a:t>•  Label tersebut tidak menyatakan seberapa besar peluang terlambat, sehingga sulit diubah menjadi ambang tindakan.</a:t>
            </a:r>
          </a:p>
          <a:p>
            <a:pPr algn="l">
              <a:lnSpc>
                <a:spcPct val="135000"/>
              </a:lnSpc>
              <a:defRPr sz="1100" b="0">
                <a:solidFill>
                  <a:srgbClr val="233324"/>
                </a:solidFill>
                <a:latin typeface="Calibri"/>
              </a:defRPr>
            </a:pPr>
            <a:r>
              <a:t>•  Tindakan korektif cenderung diambil setelah keterlambatan terjadi, bukan sebelumnya.</a:t>
            </a:r>
          </a:p>
        </p:txBody>
      </p:sp>
      <p:sp>
        <p:nvSpPr>
          <p:cNvPr id="13" name="TextBox 12"/>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200" b="1">
                <a:solidFill>
                  <a:srgbClr val="1E4220"/>
                </a:solidFill>
                <a:latin typeface="Cambria"/>
              </a:defRPr>
            </a:pPr>
            <a:r>
              <a:t>Kebutuhan: angka peluang 0–1 yang dapat dipercaya</a:t>
            </a:r>
          </a:p>
          <a:p>
            <a:pPr algn="l">
              <a:lnSpc>
                <a:spcPct val="120000"/>
              </a:lnSpc>
              <a:defRPr sz="1200" b="1">
                <a:solidFill>
                  <a:srgbClr val="1E4220"/>
                </a:solidFill>
                <a:latin typeface="Cambria"/>
              </a:defRPr>
            </a:pPr>
            <a:r>
              <a:t>sebagai pemicu peringatan dini.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Tujuan, Manfaat, serta Batasan dan Ruang Lingkup</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4</a:t>
            </a:r>
          </a:p>
        </p:txBody>
      </p:sp>
      <p:sp>
        <p:nvSpPr>
          <p:cNvPr id="6" name="Rounded Rectangle 5"/>
          <p:cNvSpPr/>
          <p:nvPr/>
        </p:nvSpPr>
        <p:spPr>
          <a:xfrm>
            <a:off x="7315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875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TUJUAN PENELITIAN</a:t>
            </a:r>
          </a:p>
        </p:txBody>
      </p:sp>
      <p:sp>
        <p:nvSpPr>
          <p:cNvPr id="8" name="TextBox 7"/>
          <p:cNvSpPr txBox="1"/>
          <p:nvPr/>
        </p:nvSpPr>
        <p:spPr>
          <a:xfrm>
            <a:off x="9875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Membangun model supervised learning yang memprediksi probabilitas keterlambatan pada fase monitoring &amp; evaluation.</a:t>
            </a:r>
          </a:p>
          <a:p>
            <a:pPr algn="l">
              <a:lnSpc>
                <a:spcPct val="125000"/>
              </a:lnSpc>
              <a:defRPr sz="1050" b="0">
                <a:solidFill>
                  <a:srgbClr val="233324"/>
                </a:solidFill>
                <a:latin typeface="Calibri"/>
              </a:defRPr>
            </a:pPr>
            <a:r>
              <a:t>•  Merancang early warning system berbasis ambang probabilitas untuk mendukung tindakan korektif dini.</a:t>
            </a:r>
          </a:p>
        </p:txBody>
      </p:sp>
      <p:sp>
        <p:nvSpPr>
          <p:cNvPr id="9" name="Rounded Rectangle 8"/>
          <p:cNvSpPr/>
          <p:nvPr/>
        </p:nvSpPr>
        <p:spPr>
          <a:xfrm>
            <a:off x="43891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451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MANFAAT</a:t>
            </a:r>
          </a:p>
        </p:txBody>
      </p:sp>
      <p:sp>
        <p:nvSpPr>
          <p:cNvPr id="11" name="TextBox 10"/>
          <p:cNvSpPr txBox="1"/>
          <p:nvPr/>
        </p:nvSpPr>
        <p:spPr>
          <a:xfrm>
            <a:off x="46451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Praktis: PM dapat memprioritaskan task berisiko tinggi dan memulihkan jadwal lebih cepat.</a:t>
            </a:r>
          </a:p>
          <a:p>
            <a:pPr algn="l">
              <a:lnSpc>
                <a:spcPct val="125000"/>
              </a:lnSpc>
              <a:defRPr sz="1050" b="0">
                <a:solidFill>
                  <a:srgbClr val="233324"/>
                </a:solidFill>
                <a:latin typeface="Calibri"/>
              </a:defRPr>
            </a:pPr>
            <a:r>
              <a:t>•  Akademis: kerangka predictive monitoring probabilistik yang diuji kalibrasinya, bukan sekadar akurasi.</a:t>
            </a:r>
          </a:p>
        </p:txBody>
      </p:sp>
      <p:sp>
        <p:nvSpPr>
          <p:cNvPr id="12" name="Rounded Rectangle 11"/>
          <p:cNvSpPr/>
          <p:nvPr/>
        </p:nvSpPr>
        <p:spPr>
          <a:xfrm>
            <a:off x="80467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02752" y="2057400"/>
            <a:ext cx="288036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BATASAN DAN RUANG LINGKUP</a:t>
            </a:r>
          </a:p>
        </p:txBody>
      </p:sp>
      <p:sp>
        <p:nvSpPr>
          <p:cNvPr id="14" name="TextBox 13"/>
          <p:cNvSpPr txBox="1"/>
          <p:nvPr/>
        </p:nvSpPr>
        <p:spPr>
          <a:xfrm>
            <a:off x="83027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Hanya fase monitoring &amp; evaluation, bukan perencanaan awal.</a:t>
            </a:r>
          </a:p>
          <a:p>
            <a:pPr algn="l">
              <a:lnSpc>
                <a:spcPct val="125000"/>
              </a:lnSpc>
              <a:defRPr sz="1050" b="0">
                <a:solidFill>
                  <a:srgbClr val="233324"/>
                </a:solidFill>
                <a:latin typeface="Calibri"/>
              </a:defRPr>
            </a:pPr>
            <a:r>
              <a:t>•  Data bersumber dari dokumen KAK, PMP, dan SRS proyek FNE 2026.</a:t>
            </a:r>
          </a:p>
          <a:p>
            <a:pPr algn="l">
              <a:lnSpc>
                <a:spcPct val="125000"/>
              </a:lnSpc>
              <a:defRPr sz="1050" b="0">
                <a:solidFill>
                  <a:srgbClr val="233324"/>
                </a:solidFill>
                <a:latin typeface="Calibri"/>
              </a:defRPr>
            </a:pPr>
            <a:r>
              <a:t>•  Empat algoritma probabilistik: LR, RF, Gradient Boosting, dan Neural Network.</a:t>
            </a:r>
          </a:p>
          <a:p>
            <a:pPr algn="l">
              <a:lnSpc>
                <a:spcPct val="125000"/>
              </a:lnSpc>
              <a:defRPr sz="1050" b="0">
                <a:solidFill>
                  <a:srgbClr val="233324"/>
                </a:solidFill>
                <a:latin typeface="Calibri"/>
              </a:defRPr>
            </a:pPr>
            <a:r>
              <a:t>•  Unit analisis: task/modul, bukan keseluruhan proyek.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Identifikasi Variabel Penelitian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Variabel konseptual pada P1 diterjemahkan menjadi kolom dataset yang tersedia pada P3</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5</a:t>
            </a:r>
          </a:p>
        </p:txBody>
      </p:sp>
      <p:graphicFrame>
        <p:nvGraphicFramePr>
          <p:cNvPr id="7" name="Table 6"/>
          <p:cNvGraphicFramePr>
            <a:graphicFrameLocks noGrp="1"/>
          </p:cNvGraphicFramePr>
          <p:nvPr/>
        </p:nvGraphicFramePr>
        <p:xfrm>
          <a:off x="731520" y="1874519"/>
          <a:ext cx="10744200" cy="2231136"/>
        </p:xfrm>
        <a:graphic>
          <a:graphicData uri="http://schemas.openxmlformats.org/drawingml/2006/table">
            <a:tbl>
              <a:tblPr firstRow="1" bandRow="1">
                <a:tableStyleId>{5C22544A-7EE6-4342-B048-85BDC9FD1C3A}</a:tableStyleId>
              </a:tblPr>
              <a:tblGrid>
                <a:gridCol w="3657600"/>
                <a:gridCol w="3246120"/>
                <a:gridCol w="3840480"/>
              </a:tblGrid>
              <a:tr h="310896">
                <a:tc>
                  <a:txBody>
                    <a:bodyPr/>
                    <a:lstStyle/>
                    <a:p>
                      <a:pPr algn="l">
                        <a:defRPr sz="1050" b="1">
                          <a:solidFill>
                            <a:srgbClr val="FFFFFF"/>
                          </a:solidFill>
                          <a:latin typeface="Calibri"/>
                        </a:defRPr>
                      </a:pPr>
                      <a:r>
                        <a:t>Variabel bebas (konseptual, P1)</a:t>
                      </a:r>
                    </a:p>
                  </a:txBody>
                  <a:tcPr marL="73152" marR="73152" marT="18288" marB="18288" anchor="ctr">
                    <a:solidFill>
                      <a:srgbClr val="1E4220"/>
                    </a:solidFill>
                  </a:tcPr>
                </a:tc>
                <a:tc>
                  <a:txBody>
                    <a:bodyPr/>
                    <a:lstStyle/>
                    <a:p>
                      <a:pPr algn="l">
                        <a:defRPr sz="1050" b="1">
                          <a:solidFill>
                            <a:srgbClr val="FFFFFF"/>
                          </a:solidFill>
                          <a:latin typeface="Calibri"/>
                        </a:defRPr>
                      </a:pPr>
                      <a:r>
                        <a:t>Operasionalisasi pada dataset (P3)</a:t>
                      </a:r>
                    </a:p>
                  </a:txBody>
                  <a:tcPr marL="73152" marR="73152" marT="18288" marB="18288" anchor="ctr">
                    <a:solidFill>
                      <a:srgbClr val="1E4220"/>
                    </a:solidFill>
                  </a:tcPr>
                </a:tc>
                <a:tc>
                  <a:txBody>
                    <a:bodyPr/>
                    <a:lstStyle/>
                    <a:p>
                      <a:pPr algn="l">
                        <a:defRPr sz="1050" b="1">
                          <a:solidFill>
                            <a:srgbClr val="FFFFFF"/>
                          </a:solidFill>
                          <a:latin typeface="Calibri"/>
                        </a:defRPr>
                      </a:pPr>
                      <a:r>
                        <a:t>Catatan</a:t>
                      </a:r>
                    </a:p>
                  </a:txBody>
                  <a:tcPr marL="73152" marR="73152" marT="18288" marB="18288" anchor="ctr">
                    <a:solidFill>
                      <a:srgbClr val="1E4220"/>
                    </a:solidFill>
                  </a:tcPr>
                </a:tc>
              </a:tr>
              <a:tr h="274320">
                <a:tc>
                  <a:txBody>
                    <a:bodyPr/>
                    <a:lstStyle/>
                    <a:p>
                      <a:pPr algn="l">
                        <a:defRPr sz="1050" b="0">
                          <a:solidFill>
                            <a:srgbClr val="233324"/>
                          </a:solidFill>
                          <a:latin typeface="Calibri"/>
                        </a:defRPr>
                      </a:pPr>
                      <a:r>
                        <a:t>Progres aktual dibanding rencana</a:t>
                      </a:r>
                    </a:p>
                  </a:txBody>
                  <a:tcPr marL="73152" marR="73152" marT="18288" marB="18288" anchor="ctr">
                    <a:solidFill>
                      <a:srgbClr val="FFFFFF"/>
                    </a:solidFill>
                  </a:tcPr>
                </a:tc>
                <a:tc>
                  <a:txBody>
                    <a:bodyPr/>
                    <a:lstStyle/>
                    <a:p>
                      <a:pPr algn="l">
                        <a:defRPr sz="1050" b="0">
                          <a:solidFill>
                            <a:srgbClr val="233324"/>
                          </a:solidFill>
                          <a:latin typeface="Calibri"/>
                        </a:defRPr>
                      </a:pPr>
                      <a:r>
                        <a:t>SPI_Value</a:t>
                      </a:r>
                    </a:p>
                  </a:txBody>
                  <a:tcPr marL="73152" marR="73152" marT="18288" marB="18288" anchor="ctr">
                    <a:solidFill>
                      <a:srgbClr val="FFFFFF"/>
                    </a:solidFill>
                  </a:tcPr>
                </a:tc>
                <a:tc>
                  <a:txBody>
                    <a:bodyPr/>
                    <a:lstStyle/>
                    <a:p>
                      <a:pPr algn="l">
                        <a:defRPr sz="1050" b="0">
                          <a:solidFill>
                            <a:srgbClr val="233324"/>
                          </a:solidFill>
                          <a:latin typeface="Calibri"/>
                        </a:defRPr>
                      </a:pPr>
                      <a:r>
                        <a:t>Schedule Performance Index = EV / PV</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Tingkat utilisasi sumber daya</a:t>
                      </a:r>
                    </a:p>
                  </a:txBody>
                  <a:tcPr marL="73152" marR="73152" marT="18288" marB="18288" anchor="ctr">
                    <a:solidFill>
                      <a:srgbClr val="F4F7F1"/>
                    </a:solidFill>
                  </a:tcPr>
                </a:tc>
                <a:tc>
                  <a:txBody>
                    <a:bodyPr/>
                    <a:lstStyle/>
                    <a:p>
                      <a:pPr algn="l">
                        <a:defRPr sz="1050" b="0">
                          <a:solidFill>
                            <a:srgbClr val="233324"/>
                          </a:solidFill>
                          <a:latin typeface="Calibri"/>
                        </a:defRPr>
                      </a:pPr>
                      <a:r>
                        <a:t>Resource_Utilization_Rate</a:t>
                      </a:r>
                    </a:p>
                  </a:txBody>
                  <a:tcPr marL="73152" marR="73152" marT="18288" marB="18288" anchor="ctr">
                    <a:solidFill>
                      <a:srgbClr val="F4F7F1"/>
                    </a:solidFill>
                  </a:tcPr>
                </a:tc>
                <a:tc>
                  <a:txBody>
                    <a:bodyPr/>
                    <a:lstStyle/>
                    <a:p>
                      <a:pPr algn="l">
                        <a:defRPr sz="1050" b="0">
                          <a:solidFill>
                            <a:srgbClr val="233324"/>
                          </a:solidFill>
                          <a:latin typeface="Calibri"/>
                        </a:defRPr>
                      </a:pPr>
                      <a:r>
                        <a:t>Nilai &gt; 1.0 menandakan developer overload</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Jumlah risiko belum dimitigasi</a:t>
                      </a:r>
                    </a:p>
                  </a:txBody>
                  <a:tcPr marL="73152" marR="73152" marT="18288" marB="18288" anchor="ctr">
                    <a:solidFill>
                      <a:srgbClr val="FFFFFF"/>
                    </a:solidFill>
                  </a:tcPr>
                </a:tc>
                <a:tc>
                  <a:txBody>
                    <a:bodyPr/>
                    <a:lstStyle/>
                    <a:p>
                      <a:pPr algn="l">
                        <a:defRPr sz="1050" b="0">
                          <a:solidFill>
                            <a:srgbClr val="233324"/>
                          </a:solidFill>
                          <a:latin typeface="Calibri"/>
                        </a:defRPr>
                      </a:pPr>
                      <a:r>
                        <a:t>Risk_Score</a:t>
                      </a:r>
                    </a:p>
                  </a:txBody>
                  <a:tcPr marL="73152" marR="73152" marT="18288" marB="18288" anchor="ctr">
                    <a:solidFill>
                      <a:srgbClr val="FFFFFF"/>
                    </a:solidFill>
                  </a:tcPr>
                </a:tc>
                <a:tc>
                  <a:txBody>
                    <a:bodyPr/>
                    <a:lstStyle/>
                    <a:p>
                      <a:pPr algn="l">
                        <a:defRPr sz="1050" b="0">
                          <a:solidFill>
                            <a:srgbClr val="233324"/>
                          </a:solidFill>
                          <a:latin typeface="Calibri"/>
                        </a:defRPr>
                      </a:pPr>
                      <a:r>
                        <a:t>Indeks probabilitas × dampak, skala 0–1</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Frekuensi perubahan</a:t>
                      </a:r>
                    </a:p>
                  </a:txBody>
                  <a:tcPr marL="73152" marR="73152" marT="18288" marB="18288" anchor="ctr">
                    <a:solidFill>
                      <a:srgbClr val="F4F7F1"/>
                    </a:solidFill>
                  </a:tcPr>
                </a:tc>
                <a:tc>
                  <a:txBody>
                    <a:bodyPr/>
                    <a:lstStyle/>
                    <a:p>
                      <a:pPr algn="l">
                        <a:defRPr sz="1050" b="0">
                          <a:solidFill>
                            <a:srgbClr val="233324"/>
                          </a:solidFill>
                          <a:latin typeface="Calibri"/>
                        </a:defRPr>
                      </a:pPr>
                      <a:r>
                        <a:t>Change_Request_Count</a:t>
                      </a:r>
                    </a:p>
                  </a:txBody>
                  <a:tcPr marL="73152" marR="73152" marT="18288" marB="18288" anchor="ctr">
                    <a:solidFill>
                      <a:srgbClr val="F4F7F1"/>
                    </a:solidFill>
                  </a:tcPr>
                </a:tc>
                <a:tc>
                  <a:txBody>
                    <a:bodyPr/>
                    <a:lstStyle/>
                    <a:p>
                      <a:pPr algn="l">
                        <a:defRPr sz="1050" b="0">
                          <a:solidFill>
                            <a:srgbClr val="233324"/>
                          </a:solidFill>
                          <a:latin typeface="Calibri"/>
                        </a:defRPr>
                      </a:pPr>
                      <a:r>
                        <a:t>Jumlah change request yang disetujui</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Kinerja dependency antar-proyek</a:t>
                      </a:r>
                    </a:p>
                  </a:txBody>
                  <a:tcPr marL="73152" marR="73152" marT="18288" marB="18288" anchor="ctr">
                    <a:solidFill>
                      <a:srgbClr val="FFFFFF"/>
                    </a:solidFill>
                  </a:tcPr>
                </a:tc>
                <a:tc>
                  <a:txBody>
                    <a:bodyPr/>
                    <a:lstStyle/>
                    <a:p>
                      <a:pPr algn="l">
                        <a:defRPr sz="1050" b="0">
                          <a:solidFill>
                            <a:srgbClr val="233324"/>
                          </a:solidFill>
                          <a:latin typeface="Calibri"/>
                        </a:defRPr>
                      </a:pPr>
                      <a:r>
                        <a:t>Predecessor_Count</a:t>
                      </a:r>
                    </a:p>
                  </a:txBody>
                  <a:tcPr marL="73152" marR="73152" marT="18288" marB="18288" anchor="ctr">
                    <a:solidFill>
                      <a:srgbClr val="FFFFFF"/>
                    </a:solidFill>
                  </a:tcPr>
                </a:tc>
                <a:tc>
                  <a:txBody>
                    <a:bodyPr/>
                    <a:lstStyle/>
                    <a:p>
                      <a:pPr algn="l">
                        <a:defRPr sz="1050" b="0">
                          <a:solidFill>
                            <a:srgbClr val="233324"/>
                          </a:solidFill>
                          <a:latin typeface="Calibri"/>
                        </a:defRPr>
                      </a:pPr>
                      <a:r>
                        <a:t>Jumlah modul pendahulu (bukan status keterlambatannya)</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Sisa waktu hingga deadline</a:t>
                      </a:r>
                    </a:p>
                  </a:txBody>
                  <a:tcPr marL="73152" marR="73152" marT="18288" marB="18288" anchor="ctr">
                    <a:solidFill>
                      <a:srgbClr val="F4F7F1"/>
                    </a:solidFill>
                  </a:tcPr>
                </a:tc>
                <a:tc>
                  <a:txBody>
                    <a:bodyPr/>
                    <a:lstStyle/>
                    <a:p>
                      <a:pPr algn="l">
                        <a:defRPr sz="1050" b="0">
                          <a:solidFill>
                            <a:srgbClr val="233324"/>
                          </a:solidFill>
                          <a:latin typeface="Calibri"/>
                        </a:defRPr>
                      </a:pPr>
                      <a:r>
                        <a:t>Planned_Duration_Days</a:t>
                      </a:r>
                    </a:p>
                  </a:txBody>
                  <a:tcPr marL="73152" marR="73152" marT="18288" marB="18288" anchor="ctr">
                    <a:solidFill>
                      <a:srgbClr val="F4F7F1"/>
                    </a:solidFill>
                  </a:tcPr>
                </a:tc>
                <a:tc>
                  <a:txBody>
                    <a:bodyPr/>
                    <a:lstStyle/>
                    <a:p>
                      <a:pPr algn="l">
                        <a:defRPr sz="1050" b="0">
                          <a:solidFill>
                            <a:srgbClr val="233324"/>
                          </a:solidFill>
                          <a:latin typeface="Calibri"/>
                        </a:defRPr>
                      </a:pPr>
                      <a:r>
                        <a:t>Proksi; sisa waktu tidak tercatat pada PMP</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Backlog yang tersisa</a:t>
                      </a:r>
                    </a:p>
                  </a:txBody>
                  <a:tcPr marL="73152" marR="73152" marT="18288" marB="18288" anchor="ctr">
                    <a:solidFill>
                      <a:srgbClr val="FFFFFF"/>
                    </a:solidFill>
                  </a:tcPr>
                </a:tc>
                <a:tc>
                  <a:txBody>
                    <a:bodyPr/>
                    <a:lstStyle/>
                    <a:p>
                      <a:pPr algn="l">
                        <a:defRPr sz="1050" b="0">
                          <a:solidFill>
                            <a:srgbClr val="233324"/>
                          </a:solidFill>
                          <a:latin typeface="Calibri"/>
                        </a:defRPr>
                      </a:pPr>
                      <a:r>
                        <a:t>Planned_Effort_Hours</a:t>
                      </a:r>
                    </a:p>
                  </a:txBody>
                  <a:tcPr marL="73152" marR="73152" marT="18288" marB="18288" anchor="ctr">
                    <a:solidFill>
                      <a:srgbClr val="FFFFFF"/>
                    </a:solidFill>
                  </a:tcPr>
                </a:tc>
                <a:tc>
                  <a:txBody>
                    <a:bodyPr/>
                    <a:lstStyle/>
                    <a:p>
                      <a:pPr algn="l">
                        <a:defRPr sz="1050" b="0">
                          <a:solidFill>
                            <a:srgbClr val="233324"/>
                          </a:solidFill>
                          <a:latin typeface="Calibri"/>
                        </a:defRPr>
                      </a:pPr>
                      <a:r>
                        <a:t>Proksi; backlog tidak tercatat pada PMP</a:t>
                      </a:r>
                    </a:p>
                  </a:txBody>
                  <a:tcPr marL="73152" marR="73152" marT="18288" marB="18288" anchor="ctr">
                    <a:solidFill>
                      <a:srgbClr val="FFFFFF"/>
                    </a:solidFill>
                  </a:tcPr>
                </a:tc>
              </a:tr>
            </a:tbl>
          </a:graphicData>
        </a:graphic>
      </p:graphicFrame>
      <p:sp>
        <p:nvSpPr>
          <p:cNvPr id="8" name="Rounded Rectangle 7"/>
          <p:cNvSpPr/>
          <p:nvPr/>
        </p:nvSpPr>
        <p:spPr>
          <a:xfrm>
            <a:off x="731520" y="5349240"/>
            <a:ext cx="10744200" cy="8686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532120"/>
            <a:ext cx="10241280" cy="548640"/>
          </a:xfrm>
          <a:prstGeom prst="rect">
            <a:avLst/>
          </a:prstGeom>
          <a:noFill/>
        </p:spPr>
        <p:txBody>
          <a:bodyPr wrap="square" lIns="0" tIns="0" rIns="0" bIns="0">
            <a:spAutoFit/>
          </a:bodyPr>
          <a:lstStyle/>
          <a:p>
            <a:pPr algn="l">
              <a:lnSpc>
                <a:spcPct val="120000"/>
              </a:lnSpc>
              <a:defRPr sz="1200" b="1">
                <a:solidFill>
                  <a:srgbClr val="1E4220"/>
                </a:solidFill>
                <a:latin typeface="Calibri"/>
              </a:defRPr>
            </a:pPr>
            <a:r>
              <a:t>Variabel terikat (Y):  probabilitas keterlambatan P(Delay) bernilai kontinu 0–1 — 0 berarti aman, 1 berarti kritis. Label pelatihan Status_Delay bersifat biner (0/1).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Matriks Literatur: Paper Inti dan Posisinya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28 referensi tertelaah; 8 paper inti berikut menjadi rujukan utama metodologi PRE-02</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6</a:t>
            </a:r>
          </a:p>
        </p:txBody>
      </p:sp>
      <p:graphicFrame>
        <p:nvGraphicFramePr>
          <p:cNvPr id="7" name="Table 6"/>
          <p:cNvGraphicFramePr>
            <a:graphicFrameLocks noGrp="1"/>
          </p:cNvGraphicFramePr>
          <p:nvPr/>
        </p:nvGraphicFramePr>
        <p:xfrm>
          <a:off x="731520" y="1874519"/>
          <a:ext cx="10744200" cy="3657600"/>
        </p:xfrm>
        <a:graphic>
          <a:graphicData uri="http://schemas.openxmlformats.org/drawingml/2006/table">
            <a:tbl>
              <a:tblPr firstRow="1" bandRow="1">
                <a:tableStyleId>{5C22544A-7EE6-4342-B048-85BDC9FD1C3A}</a:tableStyleId>
              </a:tblPr>
              <a:tblGrid>
                <a:gridCol w="2788920"/>
                <a:gridCol w="2468880"/>
                <a:gridCol w="2468880"/>
                <a:gridCol w="3017520"/>
              </a:tblGrid>
              <a:tr h="438912">
                <a:tc>
                  <a:txBody>
                    <a:bodyPr/>
                    <a:lstStyle/>
                    <a:p>
                      <a:pPr algn="l">
                        <a:defRPr sz="950" b="1">
                          <a:solidFill>
                            <a:srgbClr val="FFFFFF"/>
                          </a:solidFill>
                          <a:latin typeface="Calibri"/>
                        </a:defRPr>
                      </a:pPr>
                      <a:r>
                        <a:t>Penulis (Tahun)</a:t>
                      </a:r>
                    </a:p>
                  </a:txBody>
                  <a:tcPr marL="73152" marR="73152" marT="18288" marB="18288" anchor="ctr">
                    <a:solidFill>
                      <a:srgbClr val="1E4220"/>
                    </a:solidFill>
                  </a:tcPr>
                </a:tc>
                <a:tc>
                  <a:txBody>
                    <a:bodyPr/>
                    <a:lstStyle/>
                    <a:p>
                      <a:pPr algn="l">
                        <a:defRPr sz="950" b="1">
                          <a:solidFill>
                            <a:srgbClr val="FFFFFF"/>
                          </a:solidFill>
                          <a:latin typeface="Calibri"/>
                        </a:defRPr>
                      </a:pPr>
                      <a:r>
                        <a:t>Metode</a:t>
                      </a:r>
                    </a:p>
                  </a:txBody>
                  <a:tcPr marL="73152" marR="73152" marT="18288" marB="18288" anchor="ctr">
                    <a:solidFill>
                      <a:srgbClr val="1E4220"/>
                    </a:solidFill>
                  </a:tcPr>
                </a:tc>
                <a:tc>
                  <a:txBody>
                    <a:bodyPr/>
                    <a:lstStyle/>
                    <a:p>
                      <a:pPr algn="l">
                        <a:defRPr sz="950" b="1">
                          <a:solidFill>
                            <a:srgbClr val="FFFFFF"/>
                          </a:solidFill>
                          <a:latin typeface="Calibri"/>
                        </a:defRPr>
                      </a:pPr>
                      <a:r>
                        <a:t>Luaran</a:t>
                      </a:r>
                    </a:p>
                  </a:txBody>
                  <a:tcPr marL="73152" marR="73152" marT="18288" marB="18288" anchor="ctr">
                    <a:solidFill>
                      <a:srgbClr val="1E4220"/>
                    </a:solidFill>
                  </a:tcPr>
                </a:tc>
                <a:tc>
                  <a:txBody>
                    <a:bodyPr/>
                    <a:lstStyle/>
                    <a:p>
                      <a:pPr algn="l">
                        <a:defRPr sz="950" b="1">
                          <a:solidFill>
                            <a:srgbClr val="FFFFFF"/>
                          </a:solidFill>
                          <a:latin typeface="Calibri"/>
                        </a:defRPr>
                      </a:pPr>
                      <a:r>
                        <a:t>Celah terhadap PRE-02</a:t>
                      </a:r>
                    </a:p>
                  </a:txBody>
                  <a:tcPr marL="73152" marR="73152" marT="18288" marB="18288" anchor="ctr">
                    <a:solidFill>
                      <a:srgbClr val="1E4220"/>
                    </a:solidFill>
                  </a:tcPr>
                </a:tc>
              </a:tr>
              <a:tr h="402336">
                <a:tc>
                  <a:txBody>
                    <a:bodyPr/>
                    <a:lstStyle/>
                    <a:p>
                      <a:pPr algn="l">
                        <a:defRPr sz="950" b="0">
                          <a:solidFill>
                            <a:srgbClr val="233324"/>
                          </a:solidFill>
                          <a:latin typeface="Calibri"/>
                        </a:defRPr>
                      </a:pPr>
                      <a:r>
                        <a:t>Batselier &amp; Vanhoucke (2015)</a:t>
                      </a:r>
                    </a:p>
                  </a:txBody>
                  <a:tcPr marL="73152" marR="73152" marT="18288" marB="18288" anchor="ctr">
                    <a:solidFill>
                      <a:srgbClr val="FFFFFF"/>
                    </a:solidFill>
                  </a:tcPr>
                </a:tc>
                <a:tc>
                  <a:txBody>
                    <a:bodyPr/>
                    <a:lstStyle/>
                    <a:p>
                      <a:pPr algn="l">
                        <a:defRPr sz="950" b="0">
                          <a:solidFill>
                            <a:srgbClr val="233324"/>
                          </a:solidFill>
                          <a:latin typeface="Calibri"/>
                        </a:defRPr>
                      </a:pPr>
                      <a:r>
                        <a:t>Earned Value / Earned Schedule</a:t>
                      </a:r>
                    </a:p>
                  </a:txBody>
                  <a:tcPr marL="73152" marR="73152" marT="18288" marB="18288" anchor="ctr">
                    <a:solidFill>
                      <a:srgbClr val="FFFFFF"/>
                    </a:solidFill>
                  </a:tcPr>
                </a:tc>
                <a:tc>
                  <a:txBody>
                    <a:bodyPr/>
                    <a:lstStyle/>
                    <a:p>
                      <a:pPr algn="l">
                        <a:defRPr sz="950" b="0">
                          <a:solidFill>
                            <a:srgbClr val="233324"/>
                          </a:solidFill>
                          <a:latin typeface="Calibri"/>
                        </a:defRPr>
                      </a:pPr>
                      <a:r>
                        <a:t>Estimasi durasi deterministik</a:t>
                      </a:r>
                    </a:p>
                  </a:txBody>
                  <a:tcPr marL="73152" marR="73152" marT="18288" marB="18288" anchor="ctr">
                    <a:solidFill>
                      <a:srgbClr val="FFFFFF"/>
                    </a:solidFill>
                  </a:tcPr>
                </a:tc>
                <a:tc>
                  <a:txBody>
                    <a:bodyPr/>
                    <a:lstStyle/>
                    <a:p>
                      <a:pPr algn="l">
                        <a:defRPr sz="950" b="0">
                          <a:solidFill>
                            <a:srgbClr val="233324"/>
                          </a:solidFill>
                          <a:latin typeface="Calibri"/>
                        </a:defRPr>
                      </a:pPr>
                      <a:r>
                        <a:t>Tidak menghasilkan probabilitas</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Wauters &amp; Vanhoucke (2016)</a:t>
                      </a:r>
                    </a:p>
                  </a:txBody>
                  <a:tcPr marL="73152" marR="73152" marT="18288" marB="18288" anchor="ctr">
                    <a:solidFill>
                      <a:srgbClr val="F4F7F1"/>
                    </a:solidFill>
                  </a:tcPr>
                </a:tc>
                <a:tc>
                  <a:txBody>
                    <a:bodyPr/>
                    <a:lstStyle/>
                    <a:p>
                      <a:pPr algn="l">
                        <a:defRPr sz="950" b="0">
                          <a:solidFill>
                            <a:srgbClr val="233324"/>
                          </a:solidFill>
                          <a:latin typeface="Calibri"/>
                        </a:defRPr>
                      </a:pPr>
                      <a:r>
                        <a:t>Machine learning vs EVM</a:t>
                      </a:r>
                    </a:p>
                  </a:txBody>
                  <a:tcPr marL="73152" marR="73152" marT="18288" marB="18288" anchor="ctr">
                    <a:solidFill>
                      <a:srgbClr val="F4F7F1"/>
                    </a:solidFill>
                  </a:tcPr>
                </a:tc>
                <a:tc>
                  <a:txBody>
                    <a:bodyPr/>
                    <a:lstStyle/>
                    <a:p>
                      <a:pPr algn="l">
                        <a:defRPr sz="950" b="0">
                          <a:solidFill>
                            <a:srgbClr val="233324"/>
                          </a:solidFill>
                          <a:latin typeface="Calibri"/>
                        </a:defRPr>
                      </a:pPr>
                      <a:r>
                        <a:t>Prediksi durasi proyek</a:t>
                      </a:r>
                    </a:p>
                  </a:txBody>
                  <a:tcPr marL="73152" marR="73152" marT="18288" marB="18288" anchor="ctr">
                    <a:solidFill>
                      <a:srgbClr val="F4F7F1"/>
                    </a:solidFill>
                  </a:tcPr>
                </a:tc>
                <a:tc>
                  <a:txBody>
                    <a:bodyPr/>
                    <a:lstStyle/>
                    <a:p>
                      <a:pPr algn="l">
                        <a:defRPr sz="950" b="0">
                          <a:solidFill>
                            <a:srgbClr val="233324"/>
                          </a:solidFill>
                          <a:latin typeface="Calibri"/>
                        </a:defRPr>
                      </a:pPr>
                      <a:r>
                        <a:t>Luaran durasi, bukan peluang terlambat</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Gondia et al. (2020)</a:t>
                      </a:r>
                    </a:p>
                  </a:txBody>
                  <a:tcPr marL="73152" marR="73152" marT="18288" marB="18288" anchor="ctr">
                    <a:solidFill>
                      <a:srgbClr val="FFFFFF"/>
                    </a:solidFill>
                  </a:tcPr>
                </a:tc>
                <a:tc>
                  <a:txBody>
                    <a:bodyPr/>
                    <a:lstStyle/>
                    <a:p>
                      <a:pPr algn="l">
                        <a:defRPr sz="950" b="0">
                          <a:solidFill>
                            <a:srgbClr val="233324"/>
                          </a:solidFill>
                          <a:latin typeface="Calibri"/>
                        </a:defRPr>
                      </a:pPr>
                      <a:r>
                        <a:t>Decision tree, Naive Bayes</a:t>
                      </a:r>
                    </a:p>
                  </a:txBody>
                  <a:tcPr marL="73152" marR="73152" marT="18288" marB="18288" anchor="ctr">
                    <a:solidFill>
                      <a:srgbClr val="FFFFFF"/>
                    </a:solidFill>
                  </a:tcPr>
                </a:tc>
                <a:tc>
                  <a:txBody>
                    <a:bodyPr/>
                    <a:lstStyle/>
                    <a:p>
                      <a:pPr algn="l">
                        <a:defRPr sz="950" b="0">
                          <a:solidFill>
                            <a:srgbClr val="233324"/>
                          </a:solidFill>
                          <a:latin typeface="Calibri"/>
                        </a:defRPr>
                      </a:pPr>
                      <a:r>
                        <a:t>Kelas risiko keterlambatan</a:t>
                      </a:r>
                    </a:p>
                  </a:txBody>
                  <a:tcPr marL="73152" marR="73152" marT="18288" marB="18288" anchor="ctr">
                    <a:solidFill>
                      <a:srgbClr val="FFFFFF"/>
                    </a:solidFill>
                  </a:tcPr>
                </a:tc>
                <a:tc>
                  <a:txBody>
                    <a:bodyPr/>
                    <a:lstStyle/>
                    <a:p>
                      <a:pPr algn="l">
                        <a:defRPr sz="950" b="0">
                          <a:solidFill>
                            <a:srgbClr val="233324"/>
                          </a:solidFill>
                          <a:latin typeface="Calibri"/>
                        </a:defRPr>
                      </a:pPr>
                      <a:r>
                        <a:t>Luaran kelas diskret, kalibrasi tidak diuji</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Browning &amp; Yassine (2010)</a:t>
                      </a:r>
                    </a:p>
                  </a:txBody>
                  <a:tcPr marL="73152" marR="73152" marT="18288" marB="18288" anchor="ctr">
                    <a:solidFill>
                      <a:srgbClr val="F4F7F1"/>
                    </a:solidFill>
                  </a:tcPr>
                </a:tc>
                <a:tc>
                  <a:txBody>
                    <a:bodyPr/>
                    <a:lstStyle/>
                    <a:p>
                      <a:pPr algn="l">
                        <a:defRPr sz="950" b="0">
                          <a:solidFill>
                            <a:srgbClr val="233324"/>
                          </a:solidFill>
                          <a:latin typeface="Calibri"/>
                        </a:defRPr>
                      </a:pPr>
                      <a:r>
                        <a:t>Penjadwalan multi-proyek</a:t>
                      </a:r>
                    </a:p>
                  </a:txBody>
                  <a:tcPr marL="73152" marR="73152" marT="18288" marB="18288" anchor="ctr">
                    <a:solidFill>
                      <a:srgbClr val="F4F7F1"/>
                    </a:solidFill>
                  </a:tcPr>
                </a:tc>
                <a:tc>
                  <a:txBody>
                    <a:bodyPr/>
                    <a:lstStyle/>
                    <a:p>
                      <a:pPr algn="l">
                        <a:defRPr sz="950" b="0">
                          <a:solidFill>
                            <a:srgbClr val="233324"/>
                          </a:solidFill>
                          <a:latin typeface="Calibri"/>
                        </a:defRPr>
                      </a:pPr>
                      <a:r>
                        <a:t>Prioritas alokasi sumber daya</a:t>
                      </a:r>
                    </a:p>
                  </a:txBody>
                  <a:tcPr marL="73152" marR="73152" marT="18288" marB="18288" anchor="ctr">
                    <a:solidFill>
                      <a:srgbClr val="F4F7F1"/>
                    </a:solidFill>
                  </a:tcPr>
                </a:tc>
                <a:tc>
                  <a:txBody>
                    <a:bodyPr/>
                    <a:lstStyle/>
                    <a:p>
                      <a:pPr algn="l">
                        <a:defRPr sz="950" b="0">
                          <a:solidFill>
                            <a:srgbClr val="233324"/>
                          </a:solidFill>
                          <a:latin typeface="Calibri"/>
                        </a:defRPr>
                      </a:pPr>
                      <a:r>
                        <a:t>Tidak prediktif berbasis data</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Kula et al. (2023)</a:t>
                      </a:r>
                    </a:p>
                  </a:txBody>
                  <a:tcPr marL="73152" marR="73152" marT="18288" marB="18288" anchor="ctr">
                    <a:solidFill>
                      <a:srgbClr val="FFFFFF"/>
                    </a:solidFill>
                  </a:tcPr>
                </a:tc>
                <a:tc>
                  <a:txBody>
                    <a:bodyPr/>
                    <a:lstStyle/>
                    <a:p>
                      <a:pPr algn="l">
                        <a:defRPr sz="950" b="0">
                          <a:solidFill>
                            <a:srgbClr val="233324"/>
                          </a:solidFill>
                          <a:latin typeface="Calibri"/>
                        </a:defRPr>
                      </a:pPr>
                      <a:r>
                        <a:t>Model prediksi pengiriman software</a:t>
                      </a:r>
                    </a:p>
                  </a:txBody>
                  <a:tcPr marL="73152" marR="73152" marT="18288" marB="18288" anchor="ctr">
                    <a:solidFill>
                      <a:srgbClr val="FFFFFF"/>
                    </a:solidFill>
                  </a:tcPr>
                </a:tc>
                <a:tc>
                  <a:txBody>
                    <a:bodyPr/>
                    <a:lstStyle/>
                    <a:p>
                      <a:pPr algn="l">
                        <a:defRPr sz="950" b="0">
                          <a:solidFill>
                            <a:srgbClr val="233324"/>
                          </a:solidFill>
                          <a:latin typeface="Calibri"/>
                        </a:defRPr>
                      </a:pPr>
                      <a:r>
                        <a:t>Prediksi delay tingkat epic</a:t>
                      </a:r>
                    </a:p>
                  </a:txBody>
                  <a:tcPr marL="73152" marR="73152" marT="18288" marB="18288" anchor="ctr">
                    <a:solidFill>
                      <a:srgbClr val="FFFFFF"/>
                    </a:solidFill>
                  </a:tcPr>
                </a:tc>
                <a:tc>
                  <a:txBody>
                    <a:bodyPr/>
                    <a:lstStyle/>
                    <a:p>
                      <a:pPr algn="l">
                        <a:defRPr sz="950" b="0">
                          <a:solidFill>
                            <a:srgbClr val="233324"/>
                          </a:solidFill>
                          <a:latin typeface="Calibri"/>
                        </a:defRPr>
                      </a:pPr>
                      <a:r>
                        <a:t>Tiap unit diperlakukan independen</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Niculescu-Mizil &amp; Caruana (2005)</a:t>
                      </a:r>
                    </a:p>
                  </a:txBody>
                  <a:tcPr marL="73152" marR="73152" marT="18288" marB="18288" anchor="ctr">
                    <a:solidFill>
                      <a:srgbClr val="F4F7F1"/>
                    </a:solidFill>
                  </a:tcPr>
                </a:tc>
                <a:tc>
                  <a:txBody>
                    <a:bodyPr/>
                    <a:lstStyle/>
                    <a:p>
                      <a:pPr algn="l">
                        <a:defRPr sz="950" b="0">
                          <a:solidFill>
                            <a:srgbClr val="233324"/>
                          </a:solidFill>
                          <a:latin typeface="Calibri"/>
                        </a:defRPr>
                      </a:pPr>
                      <a:r>
                        <a:t>Platt Scaling, Isotonic Regression</a:t>
                      </a:r>
                    </a:p>
                  </a:txBody>
                  <a:tcPr marL="73152" marR="73152" marT="18288" marB="18288" anchor="ctr">
                    <a:solidFill>
                      <a:srgbClr val="F4F7F1"/>
                    </a:solidFill>
                  </a:tcPr>
                </a:tc>
                <a:tc>
                  <a:txBody>
                    <a:bodyPr/>
                    <a:lstStyle/>
                    <a:p>
                      <a:pPr algn="l">
                        <a:defRPr sz="950" b="0">
                          <a:solidFill>
                            <a:srgbClr val="233324"/>
                          </a:solidFill>
                          <a:latin typeface="Calibri"/>
                        </a:defRPr>
                      </a:pPr>
                      <a:r>
                        <a:t>Probabilitas terkalibrasi</a:t>
                      </a:r>
                    </a:p>
                  </a:txBody>
                  <a:tcPr marL="73152" marR="73152" marT="18288" marB="18288" anchor="ctr">
                    <a:solidFill>
                      <a:srgbClr val="F4F7F1"/>
                    </a:solidFill>
                  </a:tcPr>
                </a:tc>
                <a:tc>
                  <a:txBody>
                    <a:bodyPr/>
                    <a:lstStyle/>
                    <a:p>
                      <a:pPr algn="l">
                        <a:defRPr sz="950" b="0">
                          <a:solidFill>
                            <a:srgbClr val="233324"/>
                          </a:solidFill>
                          <a:latin typeface="Calibri"/>
                        </a:defRPr>
                      </a:pPr>
                      <a:r>
                        <a:t>Bukan konteks proyek ERP</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Guo et al. (2017)</a:t>
                      </a:r>
                    </a:p>
                  </a:txBody>
                  <a:tcPr marL="73152" marR="73152" marT="18288" marB="18288" anchor="ctr">
                    <a:solidFill>
                      <a:srgbClr val="FFFFFF"/>
                    </a:solidFill>
                  </a:tcPr>
                </a:tc>
                <a:tc>
                  <a:txBody>
                    <a:bodyPr/>
                    <a:lstStyle/>
                    <a:p>
                      <a:pPr algn="l">
                        <a:defRPr sz="950" b="0">
                          <a:solidFill>
                            <a:srgbClr val="233324"/>
                          </a:solidFill>
                          <a:latin typeface="Calibri"/>
                        </a:defRPr>
                      </a:pPr>
                      <a:r>
                        <a:t>Expected Calibration Error</a:t>
                      </a:r>
                    </a:p>
                  </a:txBody>
                  <a:tcPr marL="73152" marR="73152" marT="18288" marB="18288" anchor="ctr">
                    <a:solidFill>
                      <a:srgbClr val="FFFFFF"/>
                    </a:solidFill>
                  </a:tcPr>
                </a:tc>
                <a:tc>
                  <a:txBody>
                    <a:bodyPr/>
                    <a:lstStyle/>
                    <a:p>
                      <a:pPr algn="l">
                        <a:defRPr sz="950" b="0">
                          <a:solidFill>
                            <a:srgbClr val="233324"/>
                          </a:solidFill>
                          <a:latin typeface="Calibri"/>
                        </a:defRPr>
                      </a:pPr>
                      <a:r>
                        <a:t>Diagnosis overconfidence</a:t>
                      </a:r>
                    </a:p>
                  </a:txBody>
                  <a:tcPr marL="73152" marR="73152" marT="18288" marB="18288" anchor="ctr">
                    <a:solidFill>
                      <a:srgbClr val="FFFFFF"/>
                    </a:solidFill>
                  </a:tcPr>
                </a:tc>
                <a:tc>
                  <a:txBody>
                    <a:bodyPr/>
                    <a:lstStyle/>
                    <a:p>
                      <a:pPr algn="l">
                        <a:defRPr sz="950" b="0">
                          <a:solidFill>
                            <a:srgbClr val="233324"/>
                          </a:solidFill>
                          <a:latin typeface="Calibri"/>
                        </a:defRPr>
                      </a:pPr>
                      <a:r>
                        <a:t>Bukan konteks manajemen proyek</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Mirjalili et al. (2025)</a:t>
                      </a:r>
                    </a:p>
                  </a:txBody>
                  <a:tcPr marL="73152" marR="73152" marT="18288" marB="18288" anchor="ctr">
                    <a:solidFill>
                      <a:srgbClr val="F4F7F1"/>
                    </a:solidFill>
                  </a:tcPr>
                </a:tc>
                <a:tc>
                  <a:txBody>
                    <a:bodyPr/>
                    <a:lstStyle/>
                    <a:p>
                      <a:pPr algn="l">
                        <a:defRPr sz="950" b="0">
                          <a:solidFill>
                            <a:srgbClr val="233324"/>
                          </a:solidFill>
                          <a:latin typeface="Calibri"/>
                        </a:defRPr>
                      </a:pPr>
                      <a:r>
                        <a:t>Graph Neural Network untuk RCPSP</a:t>
                      </a:r>
                    </a:p>
                  </a:txBody>
                  <a:tcPr marL="73152" marR="73152" marT="18288" marB="18288" anchor="ctr">
                    <a:solidFill>
                      <a:srgbClr val="F4F7F1"/>
                    </a:solidFill>
                  </a:tcPr>
                </a:tc>
                <a:tc>
                  <a:txBody>
                    <a:bodyPr/>
                    <a:lstStyle/>
                    <a:p>
                      <a:pPr algn="l">
                        <a:defRPr sz="950" b="0">
                          <a:solidFill>
                            <a:srgbClr val="233324"/>
                          </a:solidFill>
                          <a:latin typeface="Calibri"/>
                        </a:defRPr>
                      </a:pPr>
                      <a:r>
                        <a:t>Durasi &amp; biaya jaringan proyek</a:t>
                      </a:r>
                    </a:p>
                  </a:txBody>
                  <a:tcPr marL="73152" marR="73152" marT="18288" marB="18288" anchor="ctr">
                    <a:solidFill>
                      <a:srgbClr val="F4F7F1"/>
                    </a:solidFill>
                  </a:tcPr>
                </a:tc>
                <a:tc>
                  <a:txBody>
                    <a:bodyPr/>
                    <a:lstStyle/>
                    <a:p>
                      <a:pPr algn="l">
                        <a:defRPr sz="950" b="0">
                          <a:solidFill>
                            <a:srgbClr val="233324"/>
                          </a:solidFill>
                          <a:latin typeface="Calibri"/>
                        </a:defRPr>
                      </a:pPr>
                      <a:r>
                        <a:t>Luaran regresi, bukan probabilitas delay</a:t>
                      </a:r>
                    </a:p>
                  </a:txBody>
                  <a:tcPr marL="73152" marR="73152" marT="18288" marB="18288" anchor="ctr">
                    <a:solidFill>
                      <a:srgbClr val="F4F7F1"/>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Empat Lapis Research Gap dan Posisi PRE-02</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7</a:t>
            </a:r>
          </a:p>
        </p:txBody>
      </p:sp>
      <p:sp>
        <p:nvSpPr>
          <p:cNvPr id="6" name="Rounded Rectangle 5"/>
          <p:cNvSpPr/>
          <p:nvPr/>
        </p:nvSpPr>
        <p:spPr>
          <a:xfrm>
            <a:off x="7315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1</a:t>
            </a:r>
          </a:p>
        </p:txBody>
      </p:sp>
      <p:sp>
        <p:nvSpPr>
          <p:cNvPr id="8" name="TextBox 7"/>
          <p:cNvSpPr txBox="1"/>
          <p:nvPr/>
        </p:nvSpPr>
        <p:spPr>
          <a:xfrm>
            <a:off x="9326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Joint Resource–Dependency</a:t>
            </a:r>
          </a:p>
        </p:txBody>
      </p:sp>
      <p:sp>
        <p:nvSpPr>
          <p:cNvPr id="9" name="TextBox 8"/>
          <p:cNvSpPr txBox="1"/>
          <p:nvPr/>
        </p:nvSpPr>
        <p:spPr>
          <a:xfrm>
            <a:off x="9326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Sumber daya bersama dan dependensi antar-modul dimodelkan terpisah, belum simultan.</a:t>
            </a:r>
          </a:p>
        </p:txBody>
      </p:sp>
      <p:sp>
        <p:nvSpPr>
          <p:cNvPr id="10" name="Rounded Rectangle 9"/>
          <p:cNvSpPr/>
          <p:nvPr/>
        </p:nvSpPr>
        <p:spPr>
          <a:xfrm>
            <a:off x="34747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75887"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2</a:t>
            </a:r>
          </a:p>
        </p:txBody>
      </p:sp>
      <p:sp>
        <p:nvSpPr>
          <p:cNvPr id="12" name="TextBox 11"/>
          <p:cNvSpPr txBox="1"/>
          <p:nvPr/>
        </p:nvSpPr>
        <p:spPr>
          <a:xfrm>
            <a:off x="3675887"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Module-Level Probability</a:t>
            </a:r>
          </a:p>
        </p:txBody>
      </p:sp>
      <p:sp>
        <p:nvSpPr>
          <p:cNvPr id="13" name="TextBox 12"/>
          <p:cNvSpPr txBox="1"/>
          <p:nvPr/>
        </p:nvSpPr>
        <p:spPr>
          <a:xfrm>
            <a:off x="3675887"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Prediksi berhenti di level proyek atau epic, belum sampai level modul ERP.</a:t>
            </a:r>
          </a:p>
        </p:txBody>
      </p:sp>
      <p:sp>
        <p:nvSpPr>
          <p:cNvPr id="14" name="Rounded Rectangle 13"/>
          <p:cNvSpPr/>
          <p:nvPr/>
        </p:nvSpPr>
        <p:spPr>
          <a:xfrm>
            <a:off x="62179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190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3</a:t>
            </a:r>
          </a:p>
        </p:txBody>
      </p:sp>
      <p:sp>
        <p:nvSpPr>
          <p:cNvPr id="16" name="TextBox 15"/>
          <p:cNvSpPr txBox="1"/>
          <p:nvPr/>
        </p:nvSpPr>
        <p:spPr>
          <a:xfrm>
            <a:off x="64190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Delay Propagation</a:t>
            </a:r>
          </a:p>
        </p:txBody>
      </p:sp>
      <p:sp>
        <p:nvSpPr>
          <p:cNvPr id="17" name="TextBox 16"/>
          <p:cNvSpPr txBox="1"/>
          <p:nvPr/>
        </p:nvSpPr>
        <p:spPr>
          <a:xfrm>
            <a:off x="64190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Perambatan keterlambatan antar-modul belum dimodelkan eksplisit.</a:t>
            </a:r>
          </a:p>
        </p:txBody>
      </p:sp>
      <p:sp>
        <p:nvSpPr>
          <p:cNvPr id="18" name="Rounded Rectangle 17"/>
          <p:cNvSpPr/>
          <p:nvPr/>
        </p:nvSpPr>
        <p:spPr>
          <a:xfrm>
            <a:off x="89611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622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4</a:t>
            </a:r>
          </a:p>
        </p:txBody>
      </p:sp>
      <p:sp>
        <p:nvSpPr>
          <p:cNvPr id="20" name="TextBox 19"/>
          <p:cNvSpPr txBox="1"/>
          <p:nvPr/>
        </p:nvSpPr>
        <p:spPr>
          <a:xfrm>
            <a:off x="91622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Calibration</a:t>
            </a:r>
          </a:p>
        </p:txBody>
      </p:sp>
      <p:sp>
        <p:nvSpPr>
          <p:cNvPr id="21" name="TextBox 20"/>
          <p:cNvSpPr txBox="1"/>
          <p:nvPr/>
        </p:nvSpPr>
        <p:spPr>
          <a:xfrm>
            <a:off x="91622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Evaluasi berhenti pada akurasi dan AUC; kalibrasi probabilitas jarang diuji.</a:t>
            </a:r>
          </a:p>
        </p:txBody>
      </p:sp>
      <p:sp>
        <p:nvSpPr>
          <p:cNvPr id="22" name="Rounded Rectangle 21"/>
          <p:cNvSpPr/>
          <p:nvPr/>
        </p:nvSpPr>
        <p:spPr>
          <a:xfrm>
            <a:off x="731520" y="4892040"/>
            <a:ext cx="10744200" cy="1325880"/>
          </a:xfrm>
          <a:prstGeom prst="roundRect">
            <a:avLst/>
          </a:prstGeom>
          <a:solidFill>
            <a:srgbClr val="1E4220"/>
          </a:solidFill>
          <a:ln w="12700">
            <a:solidFill>
              <a:srgbClr val="1E4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POSISI PENELITIAN PRE-02</a:t>
            </a:r>
          </a:p>
        </p:txBody>
      </p:sp>
      <p:sp>
        <p:nvSpPr>
          <p:cNvPr id="24" name="TextBox 2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50" b="0">
                <a:solidFill>
                  <a:srgbClr val="FFFFFF"/>
                </a:solidFill>
                <a:latin typeface="Calibri"/>
              </a:defRPr>
            </a:pPr>
            <a:r>
              <a:t>Memprediksi probabilitas keterlambatan terkalibrasi (0–1) pada level modul ERP, dengan fitur utilisasi sumber daya bersama dan jumlah dependensi pendahulu, lalu menerjemahkannya menjadi zona peringatan dini bagi Project Manager.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Sumber Data, Pengumpulan, dan Preprocessing</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dataset siap pakai `dataset_pre02_fne.csv` beserta dokumentasi tahapannya</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8</a:t>
            </a:r>
          </a:p>
        </p:txBody>
      </p:sp>
      <p:sp>
        <p:nvSpPr>
          <p:cNvPr id="7" name="Rounded Rectangle 6"/>
          <p:cNvSpPr/>
          <p:nvPr/>
        </p:nvSpPr>
        <p:spPr>
          <a:xfrm>
            <a:off x="7315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01</a:t>
            </a:r>
          </a:p>
        </p:txBody>
      </p:sp>
      <p:sp>
        <p:nvSpPr>
          <p:cNvPr id="9" name="TextBox 8"/>
          <p:cNvSpPr txBox="1"/>
          <p:nvPr/>
        </p:nvSpPr>
        <p:spPr>
          <a:xfrm>
            <a:off x="9326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Identifikasi sumber</a:t>
            </a:r>
          </a:p>
        </p:txBody>
      </p:sp>
      <p:sp>
        <p:nvSpPr>
          <p:cNvPr id="10" name="TextBox 9"/>
          <p:cNvSpPr txBox="1"/>
          <p:nvPr/>
        </p:nvSpPr>
        <p:spPr>
          <a:xfrm>
            <a:off x="9326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KAK proyek FNE 2026, 8 dokumen PMP, dan 8 dokumen SRS. Sifat data: empiris-simulatif.</a:t>
            </a:r>
          </a:p>
        </p:txBody>
      </p:sp>
      <p:sp>
        <p:nvSpPr>
          <p:cNvPr id="11" name="Rounded Rectangle 10"/>
          <p:cNvSpPr/>
          <p:nvPr/>
        </p:nvSpPr>
        <p:spPr>
          <a:xfrm>
            <a:off x="34747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75887"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02</a:t>
            </a:r>
          </a:p>
        </p:txBody>
      </p:sp>
      <p:sp>
        <p:nvSpPr>
          <p:cNvPr id="13" name="TextBox 12"/>
          <p:cNvSpPr txBox="1"/>
          <p:nvPr/>
        </p:nvSpPr>
        <p:spPr>
          <a:xfrm>
            <a:off x="3675887"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Pengumpulan</a:t>
            </a:r>
          </a:p>
        </p:txBody>
      </p:sp>
      <p:sp>
        <p:nvSpPr>
          <p:cNvPr id="14" name="TextBox 13"/>
          <p:cNvSpPr txBox="1"/>
          <p:nvPr/>
        </p:nvSpPr>
        <p:spPr>
          <a:xfrm>
            <a:off x="3675887"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Ekstraksi task inti tiap sub-proyek yang memiliki durasi, effort, developer bersama, dan dependensi.</a:t>
            </a:r>
          </a:p>
        </p:txBody>
      </p:sp>
      <p:sp>
        <p:nvSpPr>
          <p:cNvPr id="15" name="Rounded Rectangle 14"/>
          <p:cNvSpPr/>
          <p:nvPr/>
        </p:nvSpPr>
        <p:spPr>
          <a:xfrm>
            <a:off x="62179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190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03</a:t>
            </a:r>
          </a:p>
        </p:txBody>
      </p:sp>
      <p:sp>
        <p:nvSpPr>
          <p:cNvPr id="17" name="TextBox 16"/>
          <p:cNvSpPr txBox="1"/>
          <p:nvPr/>
        </p:nvSpPr>
        <p:spPr>
          <a:xfrm>
            <a:off x="64190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Cleaning</a:t>
            </a:r>
          </a:p>
        </p:txBody>
      </p:sp>
      <p:sp>
        <p:nvSpPr>
          <p:cNvPr id="18" name="TextBox 17"/>
          <p:cNvSpPr txBox="1"/>
          <p:nvPr/>
        </p:nvSpPr>
        <p:spPr>
          <a:xfrm>
            <a:off x="64190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Verifikasi rentang nilai, tanpa missing value, dan pemisahan kolom metadata (ID, nama task).</a:t>
            </a:r>
          </a:p>
        </p:txBody>
      </p:sp>
      <p:sp>
        <p:nvSpPr>
          <p:cNvPr id="19" name="Rounded Rectangle 18"/>
          <p:cNvSpPr/>
          <p:nvPr/>
        </p:nvSpPr>
        <p:spPr>
          <a:xfrm>
            <a:off x="89611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622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04</a:t>
            </a:r>
          </a:p>
        </p:txBody>
      </p:sp>
      <p:sp>
        <p:nvSpPr>
          <p:cNvPr id="21" name="TextBox 20"/>
          <p:cNvSpPr txBox="1"/>
          <p:nvPr/>
        </p:nvSpPr>
        <p:spPr>
          <a:xfrm>
            <a:off x="91622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Transformasi</a:t>
            </a:r>
          </a:p>
        </p:txBody>
      </p:sp>
      <p:sp>
        <p:nvSpPr>
          <p:cNvPr id="22" name="TextBox 21"/>
          <p:cNvSpPr txBox="1"/>
          <p:nvPr/>
        </p:nvSpPr>
        <p:spPr>
          <a:xfrm>
            <a:off x="91622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Standardisasi z-score dilatih hanya pada data latih di setiap fold untuk mencegah kebocoran data.</a:t>
            </a:r>
          </a:p>
        </p:txBody>
      </p:sp>
      <p:sp>
        <p:nvSpPr>
          <p:cNvPr id="23" name="Rounded Rectangle 22"/>
          <p:cNvSpPr/>
          <p:nvPr/>
        </p:nvSpPr>
        <p:spPr>
          <a:xfrm>
            <a:off x="7315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UKURAN DATASET</a:t>
            </a:r>
          </a:p>
        </p:txBody>
      </p:sp>
      <p:sp>
        <p:nvSpPr>
          <p:cNvPr id="25" name="TextBox 24"/>
          <p:cNvSpPr txBox="1"/>
          <p:nvPr/>
        </p:nvSpPr>
        <p:spPr>
          <a:xfrm>
            <a:off x="9601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26 × 7</a:t>
            </a:r>
          </a:p>
        </p:txBody>
      </p:sp>
      <p:sp>
        <p:nvSpPr>
          <p:cNvPr id="26" name="TextBox 25"/>
          <p:cNvSpPr txBox="1"/>
          <p:nvPr/>
        </p:nvSpPr>
        <p:spPr>
          <a:xfrm>
            <a:off x="9601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task inti dari 8 sub-proyek, 7 fitur numerik</a:t>
            </a:r>
          </a:p>
        </p:txBody>
      </p:sp>
      <p:sp>
        <p:nvSpPr>
          <p:cNvPr id="27" name="Rounded Rectangle 26"/>
          <p:cNvSpPr/>
          <p:nvPr/>
        </p:nvSpPr>
        <p:spPr>
          <a:xfrm>
            <a:off x="34747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7033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DISTRIBUSI KELAS</a:t>
            </a:r>
          </a:p>
        </p:txBody>
      </p:sp>
      <p:sp>
        <p:nvSpPr>
          <p:cNvPr id="29" name="TextBox 28"/>
          <p:cNvSpPr txBox="1"/>
          <p:nvPr/>
        </p:nvSpPr>
        <p:spPr>
          <a:xfrm>
            <a:off x="37033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 10</a:t>
            </a:r>
          </a:p>
        </p:txBody>
      </p:sp>
      <p:sp>
        <p:nvSpPr>
          <p:cNvPr id="30" name="TextBox 29"/>
          <p:cNvSpPr txBox="1"/>
          <p:nvPr/>
        </p:nvSpPr>
        <p:spPr>
          <a:xfrm>
            <a:off x="37033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terlambat 61.5% vs tepat waktu 38.5%</a:t>
            </a:r>
          </a:p>
        </p:txBody>
      </p:sp>
      <p:sp>
        <p:nvSpPr>
          <p:cNvPr id="31" name="Rounded Rectangle 30"/>
          <p:cNvSpPr/>
          <p:nvPr/>
        </p:nvSpPr>
        <p:spPr>
          <a:xfrm>
            <a:off x="62179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465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MISSING VALUE</a:t>
            </a:r>
          </a:p>
        </p:txBody>
      </p:sp>
      <p:sp>
        <p:nvSpPr>
          <p:cNvPr id="33" name="TextBox 32"/>
          <p:cNvSpPr txBox="1"/>
          <p:nvPr/>
        </p:nvSpPr>
        <p:spPr>
          <a:xfrm>
            <a:off x="64465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0</a:t>
            </a:r>
          </a:p>
        </p:txBody>
      </p:sp>
      <p:sp>
        <p:nvSpPr>
          <p:cNvPr id="34" name="TextBox 33"/>
          <p:cNvSpPr txBox="1"/>
          <p:nvPr/>
        </p:nvSpPr>
        <p:spPr>
          <a:xfrm>
            <a:off x="64465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diperlukan imputasi maupun SMOTE</a:t>
            </a:r>
          </a:p>
        </p:txBody>
      </p:sp>
      <p:sp>
        <p:nvSpPr>
          <p:cNvPr id="35" name="Rounded Rectangle 34"/>
          <p:cNvSpPr/>
          <p:nvPr/>
        </p:nvSpPr>
        <p:spPr>
          <a:xfrm>
            <a:off x="89611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89720" y="4361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PENYEIMBANGAN</a:t>
            </a:r>
          </a:p>
        </p:txBody>
      </p:sp>
      <p:sp>
        <p:nvSpPr>
          <p:cNvPr id="37" name="TextBox 36"/>
          <p:cNvSpPr txBox="1"/>
          <p:nvPr/>
        </p:nvSpPr>
        <p:spPr>
          <a:xfrm>
            <a:off x="91897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Stratifikasi</a:t>
            </a:r>
          </a:p>
        </p:txBody>
      </p:sp>
      <p:sp>
        <p:nvSpPr>
          <p:cNvPr id="38" name="TextBox 37"/>
          <p:cNvSpPr txBox="1"/>
          <p:nvPr/>
        </p:nvSpPr>
        <p:spPr>
          <a:xfrm>
            <a:off x="91897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rasio kelas dijaga pada tiap fold cross-validation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Deskripsi Karakteristik Data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Statistik deskriptif dihitung ulang langsung dari berkas CSV (N = 26, standar deviasi sampel)</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9</a:t>
            </a:r>
          </a:p>
        </p:txBody>
      </p:sp>
      <p:graphicFrame>
        <p:nvGraphicFramePr>
          <p:cNvPr id="7" name="Table 6"/>
          <p:cNvGraphicFramePr>
            <a:graphicFrameLocks noGrp="1"/>
          </p:cNvGraphicFramePr>
          <p:nvPr/>
        </p:nvGraphicFramePr>
        <p:xfrm>
          <a:off x="731520" y="1874519"/>
          <a:ext cx="6263640" cy="2231136"/>
        </p:xfrm>
        <a:graphic>
          <a:graphicData uri="http://schemas.openxmlformats.org/drawingml/2006/table">
            <a:tbl>
              <a:tblPr firstRow="1" bandRow="1">
                <a:tableStyleId>{5C22544A-7EE6-4342-B048-85BDC9FD1C3A}</a:tableStyleId>
              </a:tblPr>
              <a:tblGrid>
                <a:gridCol w="2606040"/>
                <a:gridCol w="960120"/>
                <a:gridCol w="1051560"/>
                <a:gridCol w="822960"/>
                <a:gridCol w="822960"/>
              </a:tblGrid>
              <a:tr h="310896">
                <a:tc>
                  <a:txBody>
                    <a:bodyPr/>
                    <a:lstStyle/>
                    <a:p>
                      <a:pPr algn="l">
                        <a:defRPr sz="1000" b="1">
                          <a:solidFill>
                            <a:srgbClr val="FFFFFF"/>
                          </a:solidFill>
                          <a:latin typeface="Calibri"/>
                        </a:defRPr>
                      </a:pPr>
                      <a:r>
                        <a:t>Variabel</a:t>
                      </a:r>
                    </a:p>
                  </a:txBody>
                  <a:tcPr marL="73152" marR="73152" marT="18288" marB="18288" anchor="ctr">
                    <a:solidFill>
                      <a:srgbClr val="1E4220"/>
                    </a:solidFill>
                  </a:tcPr>
                </a:tc>
                <a:tc>
                  <a:txBody>
                    <a:bodyPr/>
                    <a:lstStyle/>
                    <a:p>
                      <a:pPr algn="ctr">
                        <a:defRPr sz="1000" b="1">
                          <a:solidFill>
                            <a:srgbClr val="FFFFFF"/>
                          </a:solidFill>
                          <a:latin typeface="Calibri"/>
                        </a:defRPr>
                      </a:pPr>
                      <a:r>
                        <a:t>Rata-rata</a:t>
                      </a:r>
                    </a:p>
                  </a:txBody>
                  <a:tcPr marL="73152" marR="73152" marT="18288" marB="18288" anchor="ctr">
                    <a:solidFill>
                      <a:srgbClr val="1E4220"/>
                    </a:solidFill>
                  </a:tcPr>
                </a:tc>
                <a:tc>
                  <a:txBody>
                    <a:bodyPr/>
                    <a:lstStyle/>
                    <a:p>
                      <a:pPr algn="ctr">
                        <a:defRPr sz="1000" b="1">
                          <a:solidFill>
                            <a:srgbClr val="FFFFFF"/>
                          </a:solidFill>
                          <a:latin typeface="Calibri"/>
                        </a:defRPr>
                      </a:pPr>
                      <a:r>
                        <a:t>Std. Deviasi</a:t>
                      </a:r>
                    </a:p>
                  </a:txBody>
                  <a:tcPr marL="73152" marR="73152" marT="18288" marB="18288" anchor="ctr">
                    <a:solidFill>
                      <a:srgbClr val="1E4220"/>
                    </a:solidFill>
                  </a:tcPr>
                </a:tc>
                <a:tc>
                  <a:txBody>
                    <a:bodyPr/>
                    <a:lstStyle/>
                    <a:p>
                      <a:pPr algn="ctr">
                        <a:defRPr sz="1000" b="1">
                          <a:solidFill>
                            <a:srgbClr val="FFFFFF"/>
                          </a:solidFill>
                          <a:latin typeface="Calibri"/>
                        </a:defRPr>
                      </a:pPr>
                      <a:r>
                        <a:t>Min</a:t>
                      </a:r>
                    </a:p>
                  </a:txBody>
                  <a:tcPr marL="73152" marR="73152" marT="18288" marB="18288" anchor="ctr">
                    <a:solidFill>
                      <a:srgbClr val="1E4220"/>
                    </a:solidFill>
                  </a:tcPr>
                </a:tc>
                <a:tc>
                  <a:txBody>
                    <a:bodyPr/>
                    <a:lstStyle/>
                    <a:p>
                      <a:pPr algn="ctr">
                        <a:defRPr sz="1000" b="1">
                          <a:solidFill>
                            <a:srgbClr val="FFFFFF"/>
                          </a:solidFill>
                          <a:latin typeface="Calibri"/>
                        </a:defRPr>
                      </a:pPr>
                      <a:r>
                        <a:t>Maks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Planned_Duration_Days</a:t>
                      </a:r>
                    </a:p>
                  </a:txBody>
                  <a:tcPr marL="73152" marR="73152" marT="18288" marB="18288" anchor="ctr">
                    <a:solidFill>
                      <a:srgbClr val="FFFFFF"/>
                    </a:solidFill>
                  </a:tcPr>
                </a:tc>
                <a:tc>
                  <a:txBody>
                    <a:bodyPr/>
                    <a:lstStyle/>
                    <a:p>
                      <a:pPr algn="ctr">
                        <a:defRPr sz="1000" b="0">
                          <a:solidFill>
                            <a:srgbClr val="233324"/>
                          </a:solidFill>
                          <a:latin typeface="Calibri"/>
                        </a:defRPr>
                      </a:pPr>
                      <a:r>
                        <a:t>18.46</a:t>
                      </a:r>
                    </a:p>
                  </a:txBody>
                  <a:tcPr marL="73152" marR="73152" marT="18288" marB="18288" anchor="ctr">
                    <a:solidFill>
                      <a:srgbClr val="FFFFFF"/>
                    </a:solidFill>
                  </a:tcPr>
                </a:tc>
                <a:tc>
                  <a:txBody>
                    <a:bodyPr/>
                    <a:lstStyle/>
                    <a:p>
                      <a:pPr algn="ctr">
                        <a:defRPr sz="1000" b="0">
                          <a:solidFill>
                            <a:srgbClr val="233324"/>
                          </a:solidFill>
                          <a:latin typeface="Calibri"/>
                        </a:defRPr>
                      </a:pPr>
                      <a:r>
                        <a:t>4.42</a:t>
                      </a:r>
                    </a:p>
                  </a:txBody>
                  <a:tcPr marL="73152" marR="73152" marT="18288" marB="18288" anchor="ctr">
                    <a:solidFill>
                      <a:srgbClr val="FFFFFF"/>
                    </a:solidFill>
                  </a:tcPr>
                </a:tc>
                <a:tc>
                  <a:txBody>
                    <a:bodyPr/>
                    <a:lstStyle/>
                    <a:p>
                      <a:pPr algn="ctr">
                        <a:defRPr sz="1000" b="0">
                          <a:solidFill>
                            <a:srgbClr val="233324"/>
                          </a:solidFill>
                          <a:latin typeface="Calibri"/>
                        </a:defRPr>
                      </a:pPr>
                      <a:r>
                        <a:t>10.00</a:t>
                      </a:r>
                    </a:p>
                  </a:txBody>
                  <a:tcPr marL="73152" marR="73152" marT="18288" marB="18288" anchor="ctr">
                    <a:solidFill>
                      <a:srgbClr val="FFFFFF"/>
                    </a:solidFill>
                  </a:tcPr>
                </a:tc>
                <a:tc>
                  <a:txBody>
                    <a:bodyPr/>
                    <a:lstStyle/>
                    <a:p>
                      <a:pPr algn="ctr">
                        <a:defRPr sz="1000" b="0">
                          <a:solidFill>
                            <a:srgbClr val="233324"/>
                          </a:solidFill>
                          <a:latin typeface="Calibri"/>
                        </a:defRPr>
                      </a:pPr>
                      <a:r>
                        <a:t>25.00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Planned_Effort_Hours</a:t>
                      </a:r>
                    </a:p>
                  </a:txBody>
                  <a:tcPr marL="73152" marR="73152" marT="18288" marB="18288" anchor="ctr">
                    <a:solidFill>
                      <a:srgbClr val="F4F7F1"/>
                    </a:solidFill>
                  </a:tcPr>
                </a:tc>
                <a:tc>
                  <a:txBody>
                    <a:bodyPr/>
                    <a:lstStyle/>
                    <a:p>
                      <a:pPr algn="ctr">
                        <a:defRPr sz="1000" b="0">
                          <a:solidFill>
                            <a:srgbClr val="233324"/>
                          </a:solidFill>
                          <a:latin typeface="Calibri"/>
                        </a:defRPr>
                      </a:pPr>
                      <a:r>
                        <a:t>146.54</a:t>
                      </a:r>
                    </a:p>
                  </a:txBody>
                  <a:tcPr marL="73152" marR="73152" marT="18288" marB="18288" anchor="ctr">
                    <a:solidFill>
                      <a:srgbClr val="F4F7F1"/>
                    </a:solidFill>
                  </a:tcPr>
                </a:tc>
                <a:tc>
                  <a:txBody>
                    <a:bodyPr/>
                    <a:lstStyle/>
                    <a:p>
                      <a:pPr algn="ctr">
                        <a:defRPr sz="1000" b="0">
                          <a:solidFill>
                            <a:srgbClr val="233324"/>
                          </a:solidFill>
                          <a:latin typeface="Calibri"/>
                        </a:defRPr>
                      </a:pPr>
                      <a:r>
                        <a:t>35.55</a:t>
                      </a:r>
                    </a:p>
                  </a:txBody>
                  <a:tcPr marL="73152" marR="73152" marT="18288" marB="18288" anchor="ctr">
                    <a:solidFill>
                      <a:srgbClr val="F4F7F1"/>
                    </a:solidFill>
                  </a:tcPr>
                </a:tc>
                <a:tc>
                  <a:txBody>
                    <a:bodyPr/>
                    <a:lstStyle/>
                    <a:p>
                      <a:pPr algn="ctr">
                        <a:defRPr sz="1000" b="0">
                          <a:solidFill>
                            <a:srgbClr val="233324"/>
                          </a:solidFill>
                          <a:latin typeface="Calibri"/>
                        </a:defRPr>
                      </a:pPr>
                      <a:r>
                        <a:t>80.00</a:t>
                      </a:r>
                    </a:p>
                  </a:txBody>
                  <a:tcPr marL="73152" marR="73152" marT="18288" marB="18288" anchor="ctr">
                    <a:solidFill>
                      <a:srgbClr val="F4F7F1"/>
                    </a:solidFill>
                  </a:tcPr>
                </a:tc>
                <a:tc>
                  <a:txBody>
                    <a:bodyPr/>
                    <a:lstStyle/>
                    <a:p>
                      <a:pPr algn="ctr">
                        <a:defRPr sz="1000" b="0">
                          <a:solidFill>
                            <a:srgbClr val="233324"/>
                          </a:solidFill>
                          <a:latin typeface="Calibri"/>
                        </a:defRPr>
                      </a:pPr>
                      <a:r>
                        <a:t>200.00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Predecessor_Count</a:t>
                      </a:r>
                    </a:p>
                  </a:txBody>
                  <a:tcPr marL="73152" marR="73152" marT="18288" marB="18288" anchor="ctr">
                    <a:solidFill>
                      <a:srgbClr val="FFFFFF"/>
                    </a:solidFill>
                  </a:tcPr>
                </a:tc>
                <a:tc>
                  <a:txBody>
                    <a:bodyPr/>
                    <a:lstStyle/>
                    <a:p>
                      <a:pPr algn="ctr">
                        <a:defRPr sz="1000" b="0">
                          <a:solidFill>
                            <a:srgbClr val="233324"/>
                          </a:solidFill>
                          <a:latin typeface="Calibri"/>
                        </a:defRPr>
                      </a:pPr>
                      <a:r>
                        <a:t>2.00</a:t>
                      </a:r>
                    </a:p>
                  </a:txBody>
                  <a:tcPr marL="73152" marR="73152" marT="18288" marB="18288" anchor="ctr">
                    <a:solidFill>
                      <a:srgbClr val="FFFFFF"/>
                    </a:solidFill>
                  </a:tcPr>
                </a:tc>
                <a:tc>
                  <a:txBody>
                    <a:bodyPr/>
                    <a:lstStyle/>
                    <a:p>
                      <a:pPr algn="ctr">
                        <a:defRPr sz="1000" b="0">
                          <a:solidFill>
                            <a:srgbClr val="233324"/>
                          </a:solidFill>
                          <a:latin typeface="Calibri"/>
                        </a:defRPr>
                      </a:pPr>
                      <a:r>
                        <a:t>1.13</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Resource_Utilization_Rate</a:t>
                      </a:r>
                    </a:p>
                  </a:txBody>
                  <a:tcPr marL="73152" marR="73152" marT="18288" marB="18288" anchor="ctr">
                    <a:solidFill>
                      <a:srgbClr val="F4F7F1"/>
                    </a:solidFill>
                  </a:tcPr>
                </a:tc>
                <a:tc>
                  <a:txBody>
                    <a:bodyPr/>
                    <a:lstStyle/>
                    <a:p>
                      <a:pPr algn="ctr">
                        <a:defRPr sz="1000" b="0">
                          <a:solidFill>
                            <a:srgbClr val="233324"/>
                          </a:solidFill>
                          <a:latin typeface="Calibri"/>
                        </a:defRPr>
                      </a:pPr>
                      <a:r>
                        <a:t>1.038</a:t>
                      </a:r>
                    </a:p>
                  </a:txBody>
                  <a:tcPr marL="73152" marR="73152" marT="18288" marB="18288" anchor="ctr">
                    <a:solidFill>
                      <a:srgbClr val="F4F7F1"/>
                    </a:solidFill>
                  </a:tcPr>
                </a:tc>
                <a:tc>
                  <a:txBody>
                    <a:bodyPr/>
                    <a:lstStyle/>
                    <a:p>
                      <a:pPr algn="ctr">
                        <a:defRPr sz="1000" b="0">
                          <a:solidFill>
                            <a:srgbClr val="233324"/>
                          </a:solidFill>
                          <a:latin typeface="Calibri"/>
                        </a:defRPr>
                      </a:pPr>
                      <a:r>
                        <a:t>0.125</a:t>
                      </a:r>
                    </a:p>
                  </a:txBody>
                  <a:tcPr marL="73152" marR="73152" marT="18288" marB="18288" anchor="ctr">
                    <a:solidFill>
                      <a:srgbClr val="F4F7F1"/>
                    </a:solidFill>
                  </a:tcPr>
                </a:tc>
                <a:tc>
                  <a:txBody>
                    <a:bodyPr/>
                    <a:lstStyle/>
                    <a:p>
                      <a:pPr algn="ctr">
                        <a:defRPr sz="1000" b="0">
                          <a:solidFill>
                            <a:srgbClr val="233324"/>
                          </a:solidFill>
                          <a:latin typeface="Calibri"/>
                        </a:defRPr>
                      </a:pPr>
                      <a:r>
                        <a:t>0.850</a:t>
                      </a:r>
                    </a:p>
                  </a:txBody>
                  <a:tcPr marL="73152" marR="73152" marT="18288" marB="18288" anchor="ctr">
                    <a:solidFill>
                      <a:srgbClr val="F4F7F1"/>
                    </a:solidFill>
                  </a:tcPr>
                </a:tc>
                <a:tc>
                  <a:txBody>
                    <a:bodyPr/>
                    <a:lstStyle/>
                    <a:p>
                      <a:pPr algn="ctr">
                        <a:defRPr sz="1000" b="0">
                          <a:solidFill>
                            <a:srgbClr val="233324"/>
                          </a:solidFill>
                          <a:latin typeface="Calibri"/>
                        </a:defRPr>
                      </a:pPr>
                      <a:r>
                        <a:t>1.250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Risk_Score</a:t>
                      </a:r>
                    </a:p>
                  </a:txBody>
                  <a:tcPr marL="73152" marR="73152" marT="18288" marB="18288" anchor="ctr">
                    <a:solidFill>
                      <a:srgbClr val="FFFFFF"/>
                    </a:solidFill>
                  </a:tcPr>
                </a:tc>
                <a:tc>
                  <a:txBody>
                    <a:bodyPr/>
                    <a:lstStyle/>
                    <a:p>
                      <a:pPr algn="ctr">
                        <a:defRPr sz="1000" b="0">
                          <a:solidFill>
                            <a:srgbClr val="233324"/>
                          </a:solidFill>
                          <a:latin typeface="Calibri"/>
                        </a:defRPr>
                      </a:pPr>
                      <a:r>
                        <a:t>0.335</a:t>
                      </a:r>
                    </a:p>
                  </a:txBody>
                  <a:tcPr marL="73152" marR="73152" marT="18288" marB="18288" anchor="ctr">
                    <a:solidFill>
                      <a:srgbClr val="FFFFFF"/>
                    </a:solidFill>
                  </a:tcPr>
                </a:tc>
                <a:tc>
                  <a:txBody>
                    <a:bodyPr/>
                    <a:lstStyle/>
                    <a:p>
                      <a:pPr algn="ctr">
                        <a:defRPr sz="1000" b="0">
                          <a:solidFill>
                            <a:srgbClr val="233324"/>
                          </a:solidFill>
                          <a:latin typeface="Calibri"/>
                        </a:defRPr>
                      </a:pPr>
                      <a:r>
                        <a:t>0.095</a:t>
                      </a:r>
                    </a:p>
                  </a:txBody>
                  <a:tcPr marL="73152" marR="73152" marT="18288" marB="18288" anchor="ctr">
                    <a:solidFill>
                      <a:srgbClr val="FFFFFF"/>
                    </a:solidFill>
                  </a:tcPr>
                </a:tc>
                <a:tc>
                  <a:txBody>
                    <a:bodyPr/>
                    <a:lstStyle/>
                    <a:p>
                      <a:pPr algn="ctr">
                        <a:defRPr sz="1000" b="0">
                          <a:solidFill>
                            <a:srgbClr val="233324"/>
                          </a:solidFill>
                          <a:latin typeface="Calibri"/>
                        </a:defRPr>
                      </a:pPr>
                      <a:r>
                        <a:t>0.180</a:t>
                      </a:r>
                    </a:p>
                  </a:txBody>
                  <a:tcPr marL="73152" marR="73152" marT="18288" marB="18288" anchor="ctr">
                    <a:solidFill>
                      <a:srgbClr val="FFFFFF"/>
                    </a:solidFill>
                  </a:tcPr>
                </a:tc>
                <a:tc>
                  <a:txBody>
                    <a:bodyPr/>
                    <a:lstStyle/>
                    <a:p>
                      <a:pPr algn="ctr">
                        <a:defRPr sz="1000" b="0">
                          <a:solidFill>
                            <a:srgbClr val="233324"/>
                          </a:solidFill>
                          <a:latin typeface="Calibri"/>
                        </a:defRPr>
                      </a:pPr>
                      <a:r>
                        <a:t>0.500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SPI_Value</a:t>
                      </a:r>
                    </a:p>
                  </a:txBody>
                  <a:tcPr marL="73152" marR="73152" marT="18288" marB="18288" anchor="ctr">
                    <a:solidFill>
                      <a:srgbClr val="F4F7F1"/>
                    </a:solidFill>
                  </a:tcPr>
                </a:tc>
                <a:tc>
                  <a:txBody>
                    <a:bodyPr/>
                    <a:lstStyle/>
                    <a:p>
                      <a:pPr algn="ctr">
                        <a:defRPr sz="1000" b="0">
                          <a:solidFill>
                            <a:srgbClr val="233324"/>
                          </a:solidFill>
                          <a:latin typeface="Calibri"/>
                        </a:defRPr>
                      </a:pPr>
                      <a:r>
                        <a:t>0.890</a:t>
                      </a:r>
                    </a:p>
                  </a:txBody>
                  <a:tcPr marL="73152" marR="73152" marT="18288" marB="18288" anchor="ctr">
                    <a:solidFill>
                      <a:srgbClr val="F4F7F1"/>
                    </a:solidFill>
                  </a:tcPr>
                </a:tc>
                <a:tc>
                  <a:txBody>
                    <a:bodyPr/>
                    <a:lstStyle/>
                    <a:p>
                      <a:pPr algn="ctr">
                        <a:defRPr sz="1000" b="0">
                          <a:solidFill>
                            <a:srgbClr val="233324"/>
                          </a:solidFill>
                          <a:latin typeface="Calibri"/>
                        </a:defRPr>
                      </a:pPr>
                      <a:r>
                        <a:t>0.062</a:t>
                      </a:r>
                    </a:p>
                  </a:txBody>
                  <a:tcPr marL="73152" marR="73152" marT="18288" marB="18288" anchor="ctr">
                    <a:solidFill>
                      <a:srgbClr val="F4F7F1"/>
                    </a:solidFill>
                  </a:tcPr>
                </a:tc>
                <a:tc>
                  <a:txBody>
                    <a:bodyPr/>
                    <a:lstStyle/>
                    <a:p>
                      <a:pPr algn="ctr">
                        <a:defRPr sz="1000" b="0">
                          <a:solidFill>
                            <a:srgbClr val="233324"/>
                          </a:solidFill>
                          <a:latin typeface="Calibri"/>
                        </a:defRPr>
                      </a:pPr>
                      <a:r>
                        <a:t>0.790</a:t>
                      </a:r>
                    </a:p>
                  </a:txBody>
                  <a:tcPr marL="73152" marR="73152" marT="18288" marB="18288" anchor="ctr">
                    <a:solidFill>
                      <a:srgbClr val="F4F7F1"/>
                    </a:solidFill>
                  </a:tcPr>
                </a:tc>
                <a:tc>
                  <a:txBody>
                    <a:bodyPr/>
                    <a:lstStyle/>
                    <a:p>
                      <a:pPr algn="ctr">
                        <a:defRPr sz="1000" b="0">
                          <a:solidFill>
                            <a:srgbClr val="233324"/>
                          </a:solidFill>
                          <a:latin typeface="Calibri"/>
                        </a:defRPr>
                      </a:pPr>
                      <a:r>
                        <a:t>0.980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Change_Request_Count</a:t>
                      </a:r>
                    </a:p>
                  </a:txBody>
                  <a:tcPr marL="73152" marR="73152" marT="18288" marB="18288" anchor="ctr">
                    <a:solidFill>
                      <a:srgbClr val="FFFFFF"/>
                    </a:solidFill>
                  </a:tcPr>
                </a:tc>
                <a:tc>
                  <a:txBody>
                    <a:bodyPr/>
                    <a:lstStyle/>
                    <a:p>
                      <a:pPr algn="ctr">
                        <a:defRPr sz="1000" b="0">
                          <a:solidFill>
                            <a:srgbClr val="233324"/>
                          </a:solidFill>
                          <a:latin typeface="Calibri"/>
                        </a:defRPr>
                      </a:pPr>
                      <a:r>
                        <a:t>1.50</a:t>
                      </a:r>
                    </a:p>
                  </a:txBody>
                  <a:tcPr marL="73152" marR="73152" marT="18288" marB="18288" anchor="ctr">
                    <a:solidFill>
                      <a:srgbClr val="FFFFFF"/>
                    </a:solidFill>
                  </a:tcPr>
                </a:tc>
                <a:tc>
                  <a:txBody>
                    <a:bodyPr/>
                    <a:lstStyle/>
                    <a:p>
                      <a:pPr algn="ctr">
                        <a:defRPr sz="1000" b="0">
                          <a:solidFill>
                            <a:srgbClr val="233324"/>
                          </a:solidFill>
                          <a:latin typeface="Calibri"/>
                        </a:defRPr>
                      </a:pPr>
                      <a:r>
                        <a:t>1.07</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4.00</a:t>
                      </a:r>
                    </a:p>
                  </a:txBody>
                  <a:tcPr marL="73152" marR="73152" marT="18288" marB="18288" anchor="ctr">
                    <a:solidFill>
                      <a:srgbClr val="FFFFFF"/>
                    </a:solidFill>
                  </a:tcPr>
                </a:tc>
              </a:tr>
            </a:tbl>
          </a:graphicData>
        </a:graphic>
      </p:graphicFrame>
      <p:sp>
        <p:nvSpPr>
          <p:cNvPr id="8" name="Rounded Rectangle 7"/>
          <p:cNvSpPr/>
          <p:nvPr/>
        </p:nvSpPr>
        <p:spPr>
          <a:xfrm>
            <a:off x="7315200" y="1874519"/>
            <a:ext cx="416052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89520" y="2084831"/>
            <a:ext cx="36118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POLA YANG TERVERIFIKASI</a:t>
            </a:r>
          </a:p>
        </p:txBody>
      </p:sp>
      <p:sp>
        <p:nvSpPr>
          <p:cNvPr id="10" name="TextBox 9"/>
          <p:cNvSpPr txBox="1"/>
          <p:nvPr/>
        </p:nvSpPr>
        <p:spPr>
          <a:xfrm>
            <a:off x="7589520" y="2487168"/>
            <a:ext cx="3611880" cy="338328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Seluruh 15 task dengan utilisasi ≥ 1.05 berstatus terlambat; dari 11 task sisanya hanya 1 yang terlambat.</a:t>
            </a:r>
          </a:p>
          <a:p>
            <a:pPr algn="l">
              <a:lnSpc>
                <a:spcPct val="125000"/>
              </a:lnSpc>
              <a:defRPr sz="1050" b="0">
                <a:solidFill>
                  <a:srgbClr val="233324"/>
                </a:solidFill>
                <a:latin typeface="Calibri"/>
              </a:defRPr>
            </a:pPr>
            <a:r>
              <a:t>•  Seluruh 14 task dengan SPI ≤ 0.88 berstatus terlambat.</a:t>
            </a:r>
          </a:p>
          <a:p>
            <a:pPr algn="l">
              <a:lnSpc>
                <a:spcPct val="125000"/>
              </a:lnSpc>
              <a:defRPr sz="1050" b="0">
                <a:solidFill>
                  <a:srgbClr val="233324"/>
                </a:solidFill>
                <a:latin typeface="Calibri"/>
              </a:defRPr>
            </a:pPr>
            <a:r>
              <a:t>•  5 dari 6 task dengan predecessor ≥ 3 mengalami keterlambatan.</a:t>
            </a:r>
          </a:p>
        </p:txBody>
      </p:sp>
      <p:sp>
        <p:nvSpPr>
          <p:cNvPr id="11" name="TextBox 10"/>
          <p:cNvSpPr txBox="1"/>
          <p:nvPr/>
        </p:nvSpPr>
        <p:spPr>
          <a:xfrm>
            <a:off x="7589520" y="5029200"/>
            <a:ext cx="3611880" cy="914400"/>
          </a:xfrm>
          <a:prstGeom prst="rect">
            <a:avLst/>
          </a:prstGeom>
          <a:noFill/>
        </p:spPr>
        <p:txBody>
          <a:bodyPr wrap="square" lIns="0" tIns="0" rIns="0" bIns="0">
            <a:spAutoFit/>
          </a:bodyPr>
          <a:lstStyle/>
          <a:p>
            <a:pPr algn="l">
              <a:lnSpc>
                <a:spcPct val="120000"/>
              </a:lnSpc>
              <a:defRPr sz="1000" b="0">
                <a:solidFill>
                  <a:srgbClr val="B33A2F"/>
                </a:solidFill>
                <a:latin typeface="Calibri"/>
              </a:defRPr>
            </a:pPr>
            <a:r>
              <a:t>Catatan kritis: SPI nyaris memisahkan kelas sendirian (terlambat 0.79–0.90; tepat waktu 0.91–0.98). Ini alasan utama metrik pada P5 mendekati sempurna.</a:t>
            </a:r>
          </a:p>
        </p:txBody>
      </p:sp>
      <p:sp>
        <p:nvSpPr>
          <p:cNvPr id="12" name="TextBox 11"/>
          <p:cNvSpPr txBox="1"/>
          <p:nvPr/>
        </p:nvSpPr>
        <p:spPr>
          <a:xfrm>
            <a:off x="731520" y="4846320"/>
            <a:ext cx="6263640" cy="118872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Implikasi bagi desain eksperimen: dengan N = 26, pengujian tidak memakai satu kali split acak, melainkan Stratified 5-Fold Cross-Validation; model berkapasitas besar dihindari dan diganti model beregularisasi ketat.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Flow Eksperimen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Diimplementasikan pada `experiment_pipeline.py`; seed 42 dikunci pada seluruh komponen acak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10</a:t>
            </a:r>
          </a:p>
        </p:txBody>
      </p:sp>
      <p:sp>
        <p:nvSpPr>
          <p:cNvPr id="7" name="Rounded Rectangle 6"/>
          <p:cNvSpPr/>
          <p:nvPr/>
        </p:nvSpPr>
        <p:spPr>
          <a:xfrm>
            <a:off x="7315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01</a:t>
            </a:r>
          </a:p>
        </p:txBody>
      </p:sp>
      <p:sp>
        <p:nvSpPr>
          <p:cNvPr id="9" name="TextBox 8"/>
          <p:cNvSpPr txBox="1"/>
          <p:nvPr/>
        </p:nvSpPr>
        <p:spPr>
          <a:xfrm>
            <a:off x="9601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Muat data</a:t>
            </a:r>
          </a:p>
        </p:txBody>
      </p:sp>
      <p:sp>
        <p:nvSpPr>
          <p:cNvPr id="10" name="TextBox 9"/>
          <p:cNvSpPr txBox="1"/>
          <p:nvPr/>
        </p:nvSpPr>
        <p:spPr>
          <a:xfrm>
            <a:off x="9601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26 task × 7 fitur, pisahkan metadata dari matriks fitur X dan target Y.</a:t>
            </a:r>
          </a:p>
        </p:txBody>
      </p:sp>
      <p:sp>
        <p:nvSpPr>
          <p:cNvPr id="11" name="Rounded Rectangle 10"/>
          <p:cNvSpPr/>
          <p:nvPr/>
        </p:nvSpPr>
        <p:spPr>
          <a:xfrm>
            <a:off x="43891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77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02</a:t>
            </a:r>
          </a:p>
        </p:txBody>
      </p:sp>
      <p:sp>
        <p:nvSpPr>
          <p:cNvPr id="13" name="TextBox 12"/>
          <p:cNvSpPr txBox="1"/>
          <p:nvPr/>
        </p:nvSpPr>
        <p:spPr>
          <a:xfrm>
            <a:off x="46177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Stratified 5-Fold</a:t>
            </a:r>
          </a:p>
        </p:txBody>
      </p:sp>
      <p:sp>
        <p:nvSpPr>
          <p:cNvPr id="14" name="TextBox 13"/>
          <p:cNvSpPr txBox="1"/>
          <p:nvPr/>
        </p:nvSpPr>
        <p:spPr>
          <a:xfrm>
            <a:off x="46177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Bagi data menjadi 5 lipatan dengan rasio kelas tetap.</a:t>
            </a:r>
          </a:p>
        </p:txBody>
      </p:sp>
      <p:sp>
        <p:nvSpPr>
          <p:cNvPr id="15" name="Rounded Rectangle 14"/>
          <p:cNvSpPr/>
          <p:nvPr/>
        </p:nvSpPr>
        <p:spPr>
          <a:xfrm>
            <a:off x="80467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753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03</a:t>
            </a:r>
          </a:p>
        </p:txBody>
      </p:sp>
      <p:sp>
        <p:nvSpPr>
          <p:cNvPr id="17" name="TextBox 16"/>
          <p:cNvSpPr txBox="1"/>
          <p:nvPr/>
        </p:nvSpPr>
        <p:spPr>
          <a:xfrm>
            <a:off x="82753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Standardisasi</a:t>
            </a:r>
          </a:p>
        </p:txBody>
      </p:sp>
      <p:sp>
        <p:nvSpPr>
          <p:cNvPr id="18" name="TextBox 17"/>
          <p:cNvSpPr txBox="1"/>
          <p:nvPr/>
        </p:nvSpPr>
        <p:spPr>
          <a:xfrm>
            <a:off x="82753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Scaler dilatih hanya pada data latih tiap lipatan.</a:t>
            </a:r>
          </a:p>
        </p:txBody>
      </p:sp>
      <p:sp>
        <p:nvSpPr>
          <p:cNvPr id="19" name="Rounded Rectangle 18"/>
          <p:cNvSpPr/>
          <p:nvPr/>
        </p:nvSpPr>
        <p:spPr>
          <a:xfrm>
            <a:off x="7315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01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04</a:t>
            </a:r>
          </a:p>
        </p:txBody>
      </p:sp>
      <p:sp>
        <p:nvSpPr>
          <p:cNvPr id="21" name="TextBox 20"/>
          <p:cNvSpPr txBox="1"/>
          <p:nvPr/>
        </p:nvSpPr>
        <p:spPr>
          <a:xfrm>
            <a:off x="9601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Latih 4 model</a:t>
            </a:r>
          </a:p>
        </p:txBody>
      </p:sp>
      <p:sp>
        <p:nvSpPr>
          <p:cNvPr id="22" name="TextBox 21"/>
          <p:cNvSpPr txBox="1"/>
          <p:nvPr/>
        </p:nvSpPr>
        <p:spPr>
          <a:xfrm>
            <a:off x="9601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Logistic Regression, Random Forest, Gradient Boosting, dan MLP.</a:t>
            </a:r>
          </a:p>
        </p:txBody>
      </p:sp>
      <p:sp>
        <p:nvSpPr>
          <p:cNvPr id="23" name="Rounded Rectangle 22"/>
          <p:cNvSpPr/>
          <p:nvPr/>
        </p:nvSpPr>
        <p:spPr>
          <a:xfrm>
            <a:off x="43891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6177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05</a:t>
            </a:r>
          </a:p>
        </p:txBody>
      </p:sp>
      <p:sp>
        <p:nvSpPr>
          <p:cNvPr id="25" name="TextBox 24"/>
          <p:cNvSpPr txBox="1"/>
          <p:nvPr/>
        </p:nvSpPr>
        <p:spPr>
          <a:xfrm>
            <a:off x="46177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Kalibrasi</a:t>
            </a:r>
          </a:p>
        </p:txBody>
      </p:sp>
      <p:sp>
        <p:nvSpPr>
          <p:cNvPr id="26" name="TextBox 25"/>
          <p:cNvSpPr txBox="1"/>
          <p:nvPr/>
        </p:nvSpPr>
        <p:spPr>
          <a:xfrm>
            <a:off x="46177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Platt dan Isotonic dilatih pada inner 3-fold di dalam data latih.</a:t>
            </a:r>
          </a:p>
        </p:txBody>
      </p:sp>
      <p:sp>
        <p:nvSpPr>
          <p:cNvPr id="27" name="Rounded Rectangle 26"/>
          <p:cNvSpPr/>
          <p:nvPr/>
        </p:nvSpPr>
        <p:spPr>
          <a:xfrm>
            <a:off x="80467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753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06</a:t>
            </a:r>
          </a:p>
        </p:txBody>
      </p:sp>
      <p:sp>
        <p:nvSpPr>
          <p:cNvPr id="29" name="TextBox 28"/>
          <p:cNvSpPr txBox="1"/>
          <p:nvPr/>
        </p:nvSpPr>
        <p:spPr>
          <a:xfrm>
            <a:off x="82753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Evaluasi &amp; luaran</a:t>
            </a:r>
          </a:p>
        </p:txBody>
      </p:sp>
      <p:sp>
        <p:nvSpPr>
          <p:cNvPr id="30" name="TextBox 29"/>
          <p:cNvSpPr txBox="1"/>
          <p:nvPr/>
        </p:nvSpPr>
        <p:spPr>
          <a:xfrm>
            <a:off x="82753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Metrik, kurva, feature importance, prediksi per task, dan zona 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Lima Skenario Eksperimen dan Parameter Kontrol</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Skenario disusun mengikuti desain eksperimen pada dokumen Deskripsi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11</a:t>
            </a:r>
          </a:p>
        </p:txBody>
      </p:sp>
      <p:sp>
        <p:nvSpPr>
          <p:cNvPr id="7" name="Rounded Rectangle 6"/>
          <p:cNvSpPr/>
          <p:nvPr/>
        </p:nvSpPr>
        <p:spPr>
          <a:xfrm>
            <a:off x="73152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1</a:t>
            </a:r>
          </a:p>
        </p:txBody>
      </p:sp>
      <p:sp>
        <p:nvSpPr>
          <p:cNvPr id="9" name="TextBox 8"/>
          <p:cNvSpPr txBox="1"/>
          <p:nvPr/>
        </p:nvSpPr>
        <p:spPr>
          <a:xfrm>
            <a:off x="89611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Logistic Regression</a:t>
            </a:r>
          </a:p>
        </p:txBody>
      </p:sp>
      <p:sp>
        <p:nvSpPr>
          <p:cNvPr id="10" name="TextBox 9"/>
          <p:cNvSpPr txBox="1"/>
          <p:nvPr/>
        </p:nvSpPr>
        <p:spPr>
          <a:xfrm>
            <a:off x="89611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L2, C = 1.0</a:t>
            </a:r>
          </a:p>
        </p:txBody>
      </p:sp>
      <p:sp>
        <p:nvSpPr>
          <p:cNvPr id="11" name="TextBox 10"/>
          <p:cNvSpPr txBox="1"/>
          <p:nvPr/>
        </p:nvSpPr>
        <p:spPr>
          <a:xfrm>
            <a:off x="89611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Baseline; probabilitas alami dari fungsi sigmoid.</a:t>
            </a:r>
          </a:p>
        </p:txBody>
      </p:sp>
      <p:sp>
        <p:nvSpPr>
          <p:cNvPr id="12" name="Rounded Rectangle 11"/>
          <p:cNvSpPr/>
          <p:nvPr/>
        </p:nvSpPr>
        <p:spPr>
          <a:xfrm>
            <a:off x="292608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9067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2</a:t>
            </a:r>
          </a:p>
        </p:txBody>
      </p:sp>
      <p:sp>
        <p:nvSpPr>
          <p:cNvPr id="14" name="TextBox 13"/>
          <p:cNvSpPr txBox="1"/>
          <p:nvPr/>
        </p:nvSpPr>
        <p:spPr>
          <a:xfrm>
            <a:off x="309067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Random Forest</a:t>
            </a:r>
          </a:p>
        </p:txBody>
      </p:sp>
      <p:sp>
        <p:nvSpPr>
          <p:cNvPr id="15" name="TextBox 14"/>
          <p:cNvSpPr txBox="1"/>
          <p:nvPr/>
        </p:nvSpPr>
        <p:spPr>
          <a:xfrm>
            <a:off x="309067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depth 3</a:t>
            </a:r>
          </a:p>
        </p:txBody>
      </p:sp>
      <p:sp>
        <p:nvSpPr>
          <p:cNvPr id="16" name="TextBox 15"/>
          <p:cNvSpPr txBox="1"/>
          <p:nvPr/>
        </p:nvSpPr>
        <p:spPr>
          <a:xfrm>
            <a:off x="309067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Pola non-linear; menyediakan feature importance.</a:t>
            </a:r>
          </a:p>
        </p:txBody>
      </p:sp>
      <p:sp>
        <p:nvSpPr>
          <p:cNvPr id="17" name="Rounded Rectangle 16"/>
          <p:cNvSpPr/>
          <p:nvPr/>
        </p:nvSpPr>
        <p:spPr>
          <a:xfrm>
            <a:off x="512064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85231"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3</a:t>
            </a:r>
          </a:p>
        </p:txBody>
      </p:sp>
      <p:sp>
        <p:nvSpPr>
          <p:cNvPr id="19" name="TextBox 18"/>
          <p:cNvSpPr txBox="1"/>
          <p:nvPr/>
        </p:nvSpPr>
        <p:spPr>
          <a:xfrm>
            <a:off x="5285231"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Gradient Boosting</a:t>
            </a:r>
          </a:p>
        </p:txBody>
      </p:sp>
      <p:sp>
        <p:nvSpPr>
          <p:cNvPr id="20" name="TextBox 19"/>
          <p:cNvSpPr txBox="1"/>
          <p:nvPr/>
        </p:nvSpPr>
        <p:spPr>
          <a:xfrm>
            <a:off x="5285231"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lr 0.05, depth 2</a:t>
            </a:r>
          </a:p>
        </p:txBody>
      </p:sp>
      <p:sp>
        <p:nvSpPr>
          <p:cNvPr id="21" name="TextBox 20"/>
          <p:cNvSpPr txBox="1"/>
          <p:nvPr/>
        </p:nvSpPr>
        <p:spPr>
          <a:xfrm>
            <a:off x="5285231"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Boosting pada log-loss.</a:t>
            </a:r>
          </a:p>
        </p:txBody>
      </p:sp>
      <p:sp>
        <p:nvSpPr>
          <p:cNvPr id="22" name="Rounded Rectangle 21"/>
          <p:cNvSpPr/>
          <p:nvPr/>
        </p:nvSpPr>
        <p:spPr>
          <a:xfrm>
            <a:off x="7315199"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979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4</a:t>
            </a:r>
          </a:p>
        </p:txBody>
      </p:sp>
      <p:sp>
        <p:nvSpPr>
          <p:cNvPr id="24" name="TextBox 23"/>
          <p:cNvSpPr txBox="1"/>
          <p:nvPr/>
        </p:nvSpPr>
        <p:spPr>
          <a:xfrm>
            <a:off x="747979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MLP Neural Network</a:t>
            </a:r>
          </a:p>
        </p:txBody>
      </p:sp>
      <p:sp>
        <p:nvSpPr>
          <p:cNvPr id="25" name="TextBox 24"/>
          <p:cNvSpPr txBox="1"/>
          <p:nvPr/>
        </p:nvSpPr>
        <p:spPr>
          <a:xfrm>
            <a:off x="747979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16-8 neuron, ReLU, Adam</a:t>
            </a:r>
          </a:p>
        </p:txBody>
      </p:sp>
      <p:sp>
        <p:nvSpPr>
          <p:cNvPr id="26" name="TextBox 25"/>
          <p:cNvSpPr txBox="1"/>
          <p:nvPr/>
        </p:nvSpPr>
        <p:spPr>
          <a:xfrm>
            <a:off x="747979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Output sigmoid untuk pola non-linear.</a:t>
            </a:r>
          </a:p>
        </p:txBody>
      </p:sp>
      <p:sp>
        <p:nvSpPr>
          <p:cNvPr id="27" name="Rounded Rectangle 26"/>
          <p:cNvSpPr/>
          <p:nvPr/>
        </p:nvSpPr>
        <p:spPr>
          <a:xfrm>
            <a:off x="950976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7435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5</a:t>
            </a:r>
          </a:p>
        </p:txBody>
      </p:sp>
      <p:sp>
        <p:nvSpPr>
          <p:cNvPr id="29" name="TextBox 28"/>
          <p:cNvSpPr txBox="1"/>
          <p:nvPr/>
        </p:nvSpPr>
        <p:spPr>
          <a:xfrm>
            <a:off x="967435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Analisis Kalibrasi</a:t>
            </a:r>
          </a:p>
        </p:txBody>
      </p:sp>
      <p:sp>
        <p:nvSpPr>
          <p:cNvPr id="30" name="TextBox 29"/>
          <p:cNvSpPr txBox="1"/>
          <p:nvPr/>
        </p:nvSpPr>
        <p:spPr>
          <a:xfrm>
            <a:off x="967435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Raw vs Platt vs Isotonic</a:t>
            </a:r>
          </a:p>
        </p:txBody>
      </p:sp>
      <p:sp>
        <p:nvSpPr>
          <p:cNvPr id="31" name="TextBox 30"/>
          <p:cNvSpPr txBox="1"/>
          <p:nvPr/>
        </p:nvSpPr>
        <p:spPr>
          <a:xfrm>
            <a:off x="967435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Menguji keandalan angka probabilitas.</a:t>
            </a:r>
          </a:p>
        </p:txBody>
      </p:sp>
      <p:sp>
        <p:nvSpPr>
          <p:cNvPr id="32" name="Rounded Rectangle 31"/>
          <p:cNvSpPr/>
          <p:nvPr/>
        </p:nvSpPr>
        <p:spPr>
          <a:xfrm>
            <a:off x="731520" y="4892040"/>
            <a:ext cx="10744200" cy="13258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VARIABEL KONTROL</a:t>
            </a:r>
          </a:p>
        </p:txBody>
      </p:sp>
      <p:sp>
        <p:nvSpPr>
          <p:cNvPr id="34" name="TextBox 3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Partisi data, seed acak (42), urutan fitur, dan prosedur standardisasi dibuat identik untuk seluruh skenario, sehingga perbedaan hasil hanya berasal dari algoritma dan teknik kalibrasinya. Eksperimen dijalankan ulang dan menghasilkan angka yang identik.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Protokol Validasi dan Metrik Evaluasi</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12</a:t>
            </a:r>
          </a:p>
        </p:txBody>
      </p:sp>
      <p:sp>
        <p:nvSpPr>
          <p:cNvPr id="6" name="Rounded Rectangle 5"/>
          <p:cNvSpPr/>
          <p:nvPr/>
        </p:nvSpPr>
        <p:spPr>
          <a:xfrm>
            <a:off x="73152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PROTOKOL PENGENDALIAN BIAS</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100" b="0">
                <a:solidFill>
                  <a:srgbClr val="233324"/>
                </a:solidFill>
                <a:latin typeface="Calibri"/>
              </a:defRPr>
            </a:pPr>
            <a:r>
              <a:t>•  Stratified 5-Fold Cross-Validation; ±5 task uji per lipatan.</a:t>
            </a:r>
          </a:p>
          <a:p>
            <a:pPr algn="l">
              <a:lnSpc>
                <a:spcPct val="130000"/>
              </a:lnSpc>
              <a:defRPr sz="1100" b="0">
                <a:solidFill>
                  <a:srgbClr val="233324"/>
                </a:solidFill>
                <a:latin typeface="Calibri"/>
              </a:defRPr>
            </a:pPr>
            <a:r>
              <a:t>•  Standardisasi dan kalibrator hanya dilatih dari data latih (tanpa data leakage).</a:t>
            </a:r>
          </a:p>
          <a:p>
            <a:pPr algn="l">
              <a:lnSpc>
                <a:spcPct val="130000"/>
              </a:lnSpc>
              <a:defRPr sz="1100" b="0">
                <a:solidFill>
                  <a:srgbClr val="233324"/>
                </a:solidFill>
                <a:latin typeface="Calibri"/>
              </a:defRPr>
            </a:pPr>
            <a:r>
              <a:t>•  Kalibrator memakai inner 3-fold di dalam data latih.</a:t>
            </a:r>
          </a:p>
          <a:p>
            <a:pPr algn="l">
              <a:lnSpc>
                <a:spcPct val="130000"/>
              </a:lnSpc>
              <a:defRPr sz="1100" b="0">
                <a:solidFill>
                  <a:srgbClr val="233324"/>
                </a:solidFill>
                <a:latin typeface="Calibri"/>
              </a:defRPr>
            </a:pPr>
            <a:r>
              <a:t>•  Hold-out stratified 80:20 dijalankan sebagai pembanding indikatif.</a:t>
            </a:r>
          </a:p>
          <a:p>
            <a:pPr algn="l">
              <a:lnSpc>
                <a:spcPct val="130000"/>
              </a:lnSpc>
              <a:defRPr sz="1100" b="0">
                <a:solidFill>
                  <a:srgbClr val="233324"/>
                </a:solidFill>
                <a:latin typeface="Calibri"/>
              </a:defRPr>
            </a:pPr>
            <a:r>
              <a:t>•  Seed 42 dikunci; hasil dapat direplikasi.</a:t>
            </a:r>
          </a:p>
        </p:txBody>
      </p:sp>
      <p:sp>
        <p:nvSpPr>
          <p:cNvPr id="9" name="Rounded Rectangle 8"/>
          <p:cNvSpPr/>
          <p:nvPr/>
        </p:nvSpPr>
        <p:spPr>
          <a:xfrm>
            <a:off x="626364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METRIK EVALUASI DUA DIMENSI</a:t>
            </a:r>
          </a:p>
        </p:txBody>
      </p:sp>
      <p:sp>
        <p:nvSpPr>
          <p:cNvPr id="11" name="TextBox 10"/>
          <p:cNvSpPr txBox="1"/>
          <p:nvPr/>
        </p:nvSpPr>
        <p:spPr>
          <a:xfrm>
            <a:off x="6537960" y="2487168"/>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Kualitas probabilitas</a:t>
            </a:r>
          </a:p>
        </p:txBody>
      </p:sp>
      <p:sp>
        <p:nvSpPr>
          <p:cNvPr id="12" name="TextBox 11"/>
          <p:cNvSpPr txBox="1"/>
          <p:nvPr/>
        </p:nvSpPr>
        <p:spPr>
          <a:xfrm>
            <a:off x="6537960" y="2788920"/>
            <a:ext cx="4663440" cy="12344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Brier Score — rata-rata kuadrat selisih peluang dan kenyataan.</a:t>
            </a:r>
          </a:p>
          <a:p>
            <a:pPr algn="l">
              <a:lnSpc>
                <a:spcPct val="120000"/>
              </a:lnSpc>
              <a:defRPr sz="1050" b="0">
                <a:solidFill>
                  <a:srgbClr val="233324"/>
                </a:solidFill>
                <a:latin typeface="Calibri"/>
              </a:defRPr>
            </a:pPr>
            <a:r>
              <a:t>•  Log Loss — hukuman berat untuk prediksi yakin yang keliru.</a:t>
            </a:r>
          </a:p>
          <a:p>
            <a:pPr algn="l">
              <a:lnSpc>
                <a:spcPct val="120000"/>
              </a:lnSpc>
              <a:defRPr sz="1050" b="0">
                <a:solidFill>
                  <a:srgbClr val="233324"/>
                </a:solidFill>
                <a:latin typeface="Calibri"/>
              </a:defRPr>
            </a:pPr>
            <a:r>
              <a:t>•  Calibration curve dan Expected Calibration Error (5 bin).</a:t>
            </a:r>
          </a:p>
        </p:txBody>
      </p:sp>
      <p:sp>
        <p:nvSpPr>
          <p:cNvPr id="13" name="TextBox 12"/>
          <p:cNvSpPr txBox="1"/>
          <p:nvPr/>
        </p:nvSpPr>
        <p:spPr>
          <a:xfrm>
            <a:off x="6537960" y="4160520"/>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Kemampuan diskriminasi</a:t>
            </a:r>
          </a:p>
        </p:txBody>
      </p:sp>
      <p:sp>
        <p:nvSpPr>
          <p:cNvPr id="14" name="TextBox 13"/>
          <p:cNvSpPr txBox="1"/>
          <p:nvPr/>
        </p:nvSpPr>
        <p:spPr>
          <a:xfrm>
            <a:off x="6537960" y="4462272"/>
            <a:ext cx="4663440" cy="91440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ROC-AUC, recall, specificity, dan F1-score.</a:t>
            </a:r>
          </a:p>
        </p:txBody>
      </p:sp>
      <p:sp>
        <p:nvSpPr>
          <p:cNvPr id="15" name="TextBox 14"/>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Analisis tambahan: threshold analysis (Youden J) untuk ambang peringatan dini optimal, di samping ambang operasional EWS 0.35 dan 0.65.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Hasil Evaluasi Stratified 5-Fold Cross-Validation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Angka dibaca langsung dari `tabel_metrik_evaluasi.csv`; Brier Score makin kecil makin baik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13</a:t>
            </a:r>
          </a:p>
        </p:txBody>
      </p:sp>
      <p:graphicFrame>
        <p:nvGraphicFramePr>
          <p:cNvPr id="7" name="Table 6"/>
          <p:cNvGraphicFramePr>
            <a:graphicFrameLocks noGrp="1"/>
          </p:cNvGraphicFramePr>
          <p:nvPr/>
        </p:nvGraphicFramePr>
        <p:xfrm>
          <a:off x="731520" y="1874519"/>
          <a:ext cx="10744200" cy="3602736"/>
        </p:xfrm>
        <a:graphic>
          <a:graphicData uri="http://schemas.openxmlformats.org/drawingml/2006/table">
            <a:tbl>
              <a:tblPr firstRow="1" bandRow="1">
                <a:tableStyleId>{5C22544A-7EE6-4342-B048-85BDC9FD1C3A}</a:tableStyleId>
              </a:tblPr>
              <a:tblGrid>
                <a:gridCol w="2423160"/>
                <a:gridCol w="1188720"/>
                <a:gridCol w="1188720"/>
                <a:gridCol w="1371600"/>
                <a:gridCol w="1188720"/>
                <a:gridCol w="1097280"/>
                <a:gridCol w="1188720"/>
                <a:gridCol w="1097280"/>
              </a:tblGrid>
              <a:tr h="310896">
                <a:tc>
                  <a:txBody>
                    <a:bodyPr/>
                    <a:lstStyle/>
                    <a:p>
                      <a:pPr algn="l">
                        <a:defRPr sz="950" b="1">
                          <a:solidFill>
                            <a:srgbClr val="FFFFFF"/>
                          </a:solidFill>
                          <a:latin typeface="Calibri"/>
                        </a:defRPr>
                      </a:pPr>
                      <a:r>
                        <a:t>Model</a:t>
                      </a:r>
                    </a:p>
                  </a:txBody>
                  <a:tcPr marL="73152" marR="73152" marT="18288" marB="18288" anchor="ctr">
                    <a:solidFill>
                      <a:srgbClr val="1E4220"/>
                    </a:solidFill>
                  </a:tcPr>
                </a:tc>
                <a:tc>
                  <a:txBody>
                    <a:bodyPr/>
                    <a:lstStyle/>
                    <a:p>
                      <a:pPr algn="ctr">
                        <a:defRPr sz="950" b="1">
                          <a:solidFill>
                            <a:srgbClr val="FFFFFF"/>
                          </a:solidFill>
                          <a:latin typeface="Calibri"/>
                        </a:defRPr>
                      </a:pPr>
                      <a:r>
                        <a:t>Kalibrasi</a:t>
                      </a:r>
                    </a:p>
                  </a:txBody>
                  <a:tcPr marL="73152" marR="73152" marT="18288" marB="18288" anchor="ctr">
                    <a:solidFill>
                      <a:srgbClr val="1E4220"/>
                    </a:solidFill>
                  </a:tcPr>
                </a:tc>
                <a:tc>
                  <a:txBody>
                    <a:bodyPr/>
                    <a:lstStyle/>
                    <a:p>
                      <a:pPr algn="ctr">
                        <a:defRPr sz="950" b="1">
                          <a:solidFill>
                            <a:srgbClr val="FFFFFF"/>
                          </a:solidFill>
                          <a:latin typeface="Calibri"/>
                        </a:defRPr>
                      </a:pPr>
                      <a:r>
                        <a:t>ROC-AUC</a:t>
                      </a:r>
                    </a:p>
                  </a:txBody>
                  <a:tcPr marL="73152" marR="73152" marT="18288" marB="18288" anchor="ctr">
                    <a:solidFill>
                      <a:srgbClr val="1E4220"/>
                    </a:solidFill>
                  </a:tcPr>
                </a:tc>
                <a:tc>
                  <a:txBody>
                    <a:bodyPr/>
                    <a:lstStyle/>
                    <a:p>
                      <a:pPr algn="ctr">
                        <a:defRPr sz="950" b="1">
                          <a:solidFill>
                            <a:srgbClr val="FFFFFF"/>
                          </a:solidFill>
                          <a:latin typeface="Calibri"/>
                        </a:defRPr>
                      </a:pPr>
                      <a:r>
                        <a:t>Brier Score</a:t>
                      </a:r>
                    </a:p>
                  </a:txBody>
                  <a:tcPr marL="73152" marR="73152" marT="18288" marB="18288" anchor="ctr">
                    <a:solidFill>
                      <a:srgbClr val="1E4220"/>
                    </a:solidFill>
                  </a:tcPr>
                </a:tc>
                <a:tc>
                  <a:txBody>
                    <a:bodyPr/>
                    <a:lstStyle/>
                    <a:p>
                      <a:pPr algn="ctr">
                        <a:defRPr sz="950" b="1">
                          <a:solidFill>
                            <a:srgbClr val="FFFFFF"/>
                          </a:solidFill>
                          <a:latin typeface="Calibri"/>
                        </a:defRPr>
                      </a:pPr>
                      <a:r>
                        <a:t>Log Loss</a:t>
                      </a:r>
                    </a:p>
                  </a:txBody>
                  <a:tcPr marL="73152" marR="73152" marT="18288" marB="18288" anchor="ctr">
                    <a:solidFill>
                      <a:srgbClr val="1E4220"/>
                    </a:solidFill>
                  </a:tcPr>
                </a:tc>
                <a:tc>
                  <a:txBody>
                    <a:bodyPr/>
                    <a:lstStyle/>
                    <a:p>
                      <a:pPr algn="ctr">
                        <a:defRPr sz="950" b="1">
                          <a:solidFill>
                            <a:srgbClr val="FFFFFF"/>
                          </a:solidFill>
                          <a:latin typeface="Calibri"/>
                        </a:defRPr>
                      </a:pPr>
                      <a:r>
                        <a:t>ECE</a:t>
                      </a:r>
                    </a:p>
                  </a:txBody>
                  <a:tcPr marL="73152" marR="73152" marT="18288" marB="18288" anchor="ctr">
                    <a:solidFill>
                      <a:srgbClr val="1E4220"/>
                    </a:solidFill>
                  </a:tcPr>
                </a:tc>
                <a:tc>
                  <a:txBody>
                    <a:bodyPr/>
                    <a:lstStyle/>
                    <a:p>
                      <a:pPr algn="ctr">
                        <a:defRPr sz="950" b="1">
                          <a:solidFill>
                            <a:srgbClr val="FFFFFF"/>
                          </a:solidFill>
                          <a:latin typeface="Calibri"/>
                        </a:defRPr>
                      </a:pPr>
                      <a:r>
                        <a:t>Akurasi</a:t>
                      </a:r>
                    </a:p>
                  </a:txBody>
                  <a:tcPr marL="73152" marR="73152" marT="18288" marB="18288" anchor="ctr">
                    <a:solidFill>
                      <a:srgbClr val="1E4220"/>
                    </a:solidFill>
                  </a:tcPr>
                </a:tc>
                <a:tc>
                  <a:txBody>
                    <a:bodyPr/>
                    <a:lstStyle/>
                    <a:p>
                      <a:pPr algn="ctr">
                        <a:defRPr sz="950" b="1">
                          <a:solidFill>
                            <a:srgbClr val="FFFFFF"/>
                          </a:solidFill>
                          <a:latin typeface="Calibri"/>
                        </a:defRPr>
                      </a:pPr>
                      <a:r>
                        <a:t>F1</a:t>
                      </a:r>
                    </a:p>
                  </a:txBody>
                  <a:tcPr marL="73152" marR="73152" marT="18288" marB="18288" anchor="ctr">
                    <a:solidFill>
                      <a:srgbClr val="1E4220"/>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0.0273</a:t>
                      </a:r>
                    </a:p>
                  </a:txBody>
                  <a:tcPr marL="73152" marR="73152" marT="18288" marB="18288" anchor="ctr">
                    <a:solidFill>
                      <a:srgbClr val="FFFFFF"/>
                    </a:solidFill>
                  </a:tcPr>
                </a:tc>
                <a:tc>
                  <a:txBody>
                    <a:bodyPr/>
                    <a:lstStyle/>
                    <a:p>
                      <a:pPr algn="ctr">
                        <a:defRPr sz="950" b="0">
                          <a:solidFill>
                            <a:srgbClr val="233324"/>
                          </a:solidFill>
                          <a:latin typeface="Calibri"/>
                        </a:defRPr>
                      </a:pPr>
                      <a:r>
                        <a:t>0.1158</a:t>
                      </a:r>
                    </a:p>
                  </a:txBody>
                  <a:tcPr marL="73152" marR="73152" marT="18288" marB="18288" anchor="ctr">
                    <a:solidFill>
                      <a:srgbClr val="FFFFFF"/>
                    </a:solidFill>
                  </a:tcPr>
                </a:tc>
                <a:tc>
                  <a:txBody>
                    <a:bodyPr/>
                    <a:lstStyle/>
                    <a:p>
                      <a:pPr algn="ctr">
                        <a:defRPr sz="950" b="0">
                          <a:solidFill>
                            <a:srgbClr val="233324"/>
                          </a:solidFill>
                          <a:latin typeface="Calibri"/>
                        </a:defRPr>
                      </a:pPr>
                      <a:r>
                        <a:t>0.0570</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c>
                  <a:txBody>
                    <a:bodyPr/>
                    <a:lstStyle/>
                    <a:p>
                      <a:pPr algn="ctr">
                        <a:defRPr sz="950" b="0">
                          <a:solidFill>
                            <a:srgbClr val="233324"/>
                          </a:solidFill>
                          <a:latin typeface="Calibri"/>
                        </a:defRPr>
                      </a:pPr>
                      <a:r>
                        <a:t>0.0317</a:t>
                      </a:r>
                    </a:p>
                  </a:txBody>
                  <a:tcPr marL="73152" marR="73152" marT="18288" marB="18288" anchor="ctr">
                    <a:solidFill>
                      <a:srgbClr val="F4F7F1"/>
                    </a:solidFill>
                  </a:tcPr>
                </a:tc>
                <a:tc>
                  <a:txBody>
                    <a:bodyPr/>
                    <a:lstStyle/>
                    <a:p>
                      <a:pPr algn="ctr">
                        <a:defRPr sz="950" b="0">
                          <a:solidFill>
                            <a:srgbClr val="233324"/>
                          </a:solidFill>
                          <a:latin typeface="Calibri"/>
                        </a:defRPr>
                      </a:pPr>
                      <a:r>
                        <a:t>0.1427</a:t>
                      </a:r>
                    </a:p>
                  </a:txBody>
                  <a:tcPr marL="73152" marR="73152" marT="18288" marB="18288" anchor="ctr">
                    <a:solidFill>
                      <a:srgbClr val="F4F7F1"/>
                    </a:solidFill>
                  </a:tcPr>
                </a:tc>
                <a:tc>
                  <a:txBody>
                    <a:bodyPr/>
                    <a:lstStyle/>
                    <a:p>
                      <a:pPr algn="ctr">
                        <a:defRPr sz="950" b="0">
                          <a:solidFill>
                            <a:srgbClr val="233324"/>
                          </a:solidFill>
                          <a:latin typeface="Calibri"/>
                        </a:defRPr>
                      </a:pPr>
                      <a:r>
                        <a:t>0.0749</a:t>
                      </a:r>
                    </a:p>
                  </a:txBody>
                  <a:tcPr marL="73152" marR="73152" marT="18288" marB="18288" anchor="ctr">
                    <a:solidFill>
                      <a:srgbClr val="F4F7F1"/>
                    </a:solidFill>
                  </a:tcPr>
                </a:tc>
                <a:tc>
                  <a:txBody>
                    <a:bodyPr/>
                    <a:lstStyle/>
                    <a:p>
                      <a:pPr algn="ctr">
                        <a:defRPr sz="950" b="0">
                          <a:solidFill>
                            <a:srgbClr val="233324"/>
                          </a:solidFill>
                          <a:latin typeface="Calibri"/>
                        </a:defRPr>
                      </a:pPr>
                      <a:r>
                        <a:t>96.2%</a:t>
                      </a:r>
                    </a:p>
                  </a:txBody>
                  <a:tcPr marL="73152" marR="73152" marT="18288" marB="18288" anchor="ctr">
                    <a:solidFill>
                      <a:srgbClr val="F4F7F1"/>
                    </a:solidFill>
                  </a:tcPr>
                </a:tc>
                <a:tc>
                  <a:txBody>
                    <a:bodyPr/>
                    <a:lstStyle/>
                    <a:p>
                      <a:pPr algn="ctr">
                        <a:defRPr sz="950" b="0">
                          <a:solidFill>
                            <a:srgbClr val="233324"/>
                          </a:solidFill>
                          <a:latin typeface="Calibri"/>
                        </a:defRPr>
                      </a:pPr>
                      <a:r>
                        <a:t>0.9697</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0.9656</a:t>
                      </a:r>
                    </a:p>
                  </a:txBody>
                  <a:tcPr marL="73152" marR="73152" marT="18288" marB="18288" anchor="ctr">
                    <a:solidFill>
                      <a:srgbClr val="FFFFFF"/>
                    </a:solidFill>
                  </a:tcPr>
                </a:tc>
                <a:tc>
                  <a:txBody>
                    <a:bodyPr/>
                    <a:lstStyle/>
                    <a:p>
                      <a:pPr algn="ctr">
                        <a:defRPr sz="950" b="0">
                          <a:solidFill>
                            <a:srgbClr val="233324"/>
                          </a:solidFill>
                          <a:latin typeface="Calibri"/>
                        </a:defRPr>
                      </a:pPr>
                      <a:r>
                        <a:t>0.0724</a:t>
                      </a:r>
                    </a:p>
                  </a:txBody>
                  <a:tcPr marL="73152" marR="73152" marT="18288" marB="18288" anchor="ctr">
                    <a:solidFill>
                      <a:srgbClr val="FFFFFF"/>
                    </a:solidFill>
                  </a:tcPr>
                </a:tc>
                <a:tc>
                  <a:txBody>
                    <a:bodyPr/>
                    <a:lstStyle/>
                    <a:p>
                      <a:pPr algn="ctr">
                        <a:defRPr sz="950" b="0">
                          <a:solidFill>
                            <a:srgbClr val="233324"/>
                          </a:solidFill>
                          <a:latin typeface="Calibri"/>
                        </a:defRPr>
                      </a:pPr>
                      <a:r>
                        <a:t>1.4366</a:t>
                      </a:r>
                    </a:p>
                  </a:txBody>
                  <a:tcPr marL="73152" marR="73152" marT="18288" marB="18288" anchor="ctr">
                    <a:solidFill>
                      <a:srgbClr val="FFFFFF"/>
                    </a:solidFill>
                  </a:tcPr>
                </a:tc>
                <a:tc>
                  <a:txBody>
                    <a:bodyPr/>
                    <a:lstStyle/>
                    <a:p>
                      <a:pPr algn="ctr">
                        <a:defRPr sz="950" b="0">
                          <a:solidFill>
                            <a:srgbClr val="233324"/>
                          </a:solidFill>
                          <a:latin typeface="Calibri"/>
                        </a:defRPr>
                      </a:pPr>
                      <a:r>
                        <a:t>0.0746</a:t>
                      </a:r>
                    </a:p>
                  </a:txBody>
                  <a:tcPr marL="73152" marR="73152" marT="18288" marB="18288" anchor="ctr">
                    <a:solidFill>
                      <a:srgbClr val="FFFFFF"/>
                    </a:solidFill>
                  </a:tcPr>
                </a:tc>
                <a:tc>
                  <a:txBody>
                    <a:bodyPr/>
                    <a:lstStyle/>
                    <a:p>
                      <a:pPr algn="ctr">
                        <a:defRPr sz="950" b="0">
                          <a:solidFill>
                            <a:srgbClr val="233324"/>
                          </a:solidFill>
                          <a:latin typeface="Calibri"/>
                        </a:defRPr>
                      </a:pPr>
                      <a:r>
                        <a:t>92.3%</a:t>
                      </a:r>
                    </a:p>
                  </a:txBody>
                  <a:tcPr marL="73152" marR="73152" marT="18288" marB="18288" anchor="ctr">
                    <a:solidFill>
                      <a:srgbClr val="FFFFFF"/>
                    </a:solidFill>
                  </a:tcPr>
                </a:tc>
                <a:tc>
                  <a:txBody>
                    <a:bodyPr/>
                    <a:lstStyle/>
                    <a:p>
                      <a:pPr algn="ctr">
                        <a:defRPr sz="950" b="0">
                          <a:solidFill>
                            <a:srgbClr val="233324"/>
                          </a:solidFill>
                          <a:latin typeface="Calibri"/>
                        </a:defRPr>
                      </a:pPr>
                      <a:r>
                        <a:t>0.9375</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Raw</a:t>
                      </a:r>
                    </a:p>
                  </a:txBody>
                  <a:tcPr marL="73152" marR="73152" marT="18288" marB="18288" anchor="ctr">
                    <a:solidFill>
                      <a:srgbClr val="F4F7F1"/>
                    </a:solidFill>
                  </a:tcPr>
                </a:tc>
                <a:tc>
                  <a:txBody>
                    <a:bodyPr/>
                    <a:lstStyle/>
                    <a:p>
                      <a:pPr algn="ctr">
                        <a:defRPr sz="950" b="0">
                          <a:solidFill>
                            <a:srgbClr val="233324"/>
                          </a:solidFill>
                          <a:latin typeface="Calibri"/>
                        </a:defRPr>
                      </a:pPr>
                      <a:r>
                        <a:t>0.9875</a:t>
                      </a:r>
                    </a:p>
                  </a:txBody>
                  <a:tcPr marL="73152" marR="73152" marT="18288" marB="18288" anchor="ctr">
                    <a:solidFill>
                      <a:srgbClr val="F4F7F1"/>
                    </a:solidFill>
                  </a:tcPr>
                </a:tc>
                <a:tc>
                  <a:txBody>
                    <a:bodyPr/>
                    <a:lstStyle/>
                    <a:p>
                      <a:pPr algn="ctr">
                        <a:defRPr sz="950" b="0">
                          <a:solidFill>
                            <a:srgbClr val="233324"/>
                          </a:solidFill>
                          <a:latin typeface="Calibri"/>
                        </a:defRPr>
                      </a:pPr>
                      <a:r>
                        <a:t>0.0421</a:t>
                      </a:r>
                    </a:p>
                  </a:txBody>
                  <a:tcPr marL="73152" marR="73152" marT="18288" marB="18288" anchor="ctr">
                    <a:solidFill>
                      <a:srgbClr val="F4F7F1"/>
                    </a:solidFill>
                  </a:tcPr>
                </a:tc>
                <a:tc>
                  <a:txBody>
                    <a:bodyPr/>
                    <a:lstStyle/>
                    <a:p>
                      <a:pPr algn="ctr">
                        <a:defRPr sz="950" b="0">
                          <a:solidFill>
                            <a:srgbClr val="233324"/>
                          </a:solidFill>
                          <a:latin typeface="Calibri"/>
                        </a:defRPr>
                      </a:pPr>
                      <a:r>
                        <a:t>0.1446</a:t>
                      </a:r>
                    </a:p>
                  </a:txBody>
                  <a:tcPr marL="73152" marR="73152" marT="18288" marB="18288" anchor="ctr">
                    <a:solidFill>
                      <a:srgbClr val="F4F7F1"/>
                    </a:solidFill>
                  </a:tcPr>
                </a:tc>
                <a:tc>
                  <a:txBody>
                    <a:bodyPr/>
                    <a:lstStyle/>
                    <a:p>
                      <a:pPr algn="ctr">
                        <a:defRPr sz="950" b="0">
                          <a:solidFill>
                            <a:srgbClr val="233324"/>
                          </a:solidFill>
                          <a:latin typeface="Calibri"/>
                        </a:defRPr>
                      </a:pPr>
                      <a:r>
                        <a:t>0.0812</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0.0696</a:t>
                      </a:r>
                    </a:p>
                  </a:txBody>
                  <a:tcPr marL="73152" marR="73152" marT="18288" marB="18288" anchor="ctr">
                    <a:solidFill>
                      <a:srgbClr val="FFFFFF"/>
                    </a:solidFill>
                  </a:tcPr>
                </a:tc>
                <a:tc>
                  <a:txBody>
                    <a:bodyPr/>
                    <a:lstStyle/>
                    <a:p>
                      <a:pPr algn="ctr">
                        <a:defRPr sz="950" b="0">
                          <a:solidFill>
                            <a:srgbClr val="233324"/>
                          </a:solidFill>
                          <a:latin typeface="Calibri"/>
                        </a:defRPr>
                      </a:pPr>
                      <a:r>
                        <a:t>0.2418</a:t>
                      </a:r>
                    </a:p>
                  </a:txBody>
                  <a:tcPr marL="73152" marR="73152" marT="18288" marB="18288" anchor="ctr">
                    <a:solidFill>
                      <a:srgbClr val="FFFFFF"/>
                    </a:solidFill>
                  </a:tcPr>
                </a:tc>
                <a:tc>
                  <a:txBody>
                    <a:bodyPr/>
                    <a:lstStyle/>
                    <a:p>
                      <a:pPr algn="ctr">
                        <a:defRPr sz="950" b="0">
                          <a:solidFill>
                            <a:srgbClr val="233324"/>
                          </a:solidFill>
                          <a:latin typeface="Calibri"/>
                        </a:defRPr>
                      </a:pPr>
                      <a:r>
                        <a:t>0.1224</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0.9156</a:t>
                      </a:r>
                    </a:p>
                  </a:txBody>
                  <a:tcPr marL="73152" marR="73152" marT="18288" marB="18288" anchor="ctr">
                    <a:solidFill>
                      <a:srgbClr val="F4F7F1"/>
                    </a:solidFill>
                  </a:tcPr>
                </a:tc>
                <a:tc>
                  <a:txBody>
                    <a:bodyPr/>
                    <a:lstStyle/>
                    <a:p>
                      <a:pPr algn="ctr">
                        <a:defRPr sz="950" b="0">
                          <a:solidFill>
                            <a:srgbClr val="233324"/>
                          </a:solidFill>
                          <a:latin typeface="Calibri"/>
                        </a:defRPr>
                      </a:pPr>
                      <a:r>
                        <a:t>0.0801</a:t>
                      </a:r>
                    </a:p>
                  </a:txBody>
                  <a:tcPr marL="73152" marR="73152" marT="18288" marB="18288" anchor="ctr">
                    <a:solidFill>
                      <a:srgbClr val="F4F7F1"/>
                    </a:solidFill>
                  </a:tcPr>
                </a:tc>
                <a:tc>
                  <a:txBody>
                    <a:bodyPr/>
                    <a:lstStyle/>
                    <a:p>
                      <a:pPr algn="ctr">
                        <a:defRPr sz="950" b="0">
                          <a:solidFill>
                            <a:srgbClr val="233324"/>
                          </a:solidFill>
                          <a:latin typeface="Calibri"/>
                        </a:defRPr>
                      </a:pPr>
                      <a:r>
                        <a:t>2.6700</a:t>
                      </a:r>
                    </a:p>
                  </a:txBody>
                  <a:tcPr marL="73152" marR="73152" marT="18288" marB="18288" anchor="ctr">
                    <a:solidFill>
                      <a:srgbClr val="F4F7F1"/>
                    </a:solidFill>
                  </a:tcPr>
                </a:tc>
                <a:tc>
                  <a:txBody>
                    <a:bodyPr/>
                    <a:lstStyle/>
                    <a:p>
                      <a:pPr algn="ctr">
                        <a:defRPr sz="950" b="0">
                          <a:solidFill>
                            <a:srgbClr val="233324"/>
                          </a:solidFill>
                          <a:latin typeface="Calibri"/>
                        </a:defRPr>
                      </a:pPr>
                      <a:r>
                        <a:t>0.0881</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0.9031</a:t>
                      </a:r>
                    </a:p>
                  </a:txBody>
                  <a:tcPr marL="73152" marR="73152" marT="18288" marB="18288" anchor="ctr">
                    <a:solidFill>
                      <a:srgbClr val="FFFFFF"/>
                    </a:solidFill>
                  </a:tcPr>
                </a:tc>
                <a:tc>
                  <a:txBody>
                    <a:bodyPr/>
                    <a:lstStyle/>
                    <a:p>
                      <a:pPr algn="ctr">
                        <a:defRPr sz="950" b="0">
                          <a:solidFill>
                            <a:srgbClr val="233324"/>
                          </a:solidFill>
                          <a:latin typeface="Calibri"/>
                        </a:defRPr>
                      </a:pPr>
                      <a:r>
                        <a:t>0.0973</a:t>
                      </a:r>
                    </a:p>
                  </a:txBody>
                  <a:tcPr marL="73152" marR="73152" marT="18288" marB="18288" anchor="ctr">
                    <a:solidFill>
                      <a:srgbClr val="FFFFFF"/>
                    </a:solidFill>
                  </a:tcPr>
                </a:tc>
                <a:tc>
                  <a:txBody>
                    <a:bodyPr/>
                    <a:lstStyle/>
                    <a:p>
                      <a:pPr algn="ctr">
                        <a:defRPr sz="950" b="0">
                          <a:solidFill>
                            <a:srgbClr val="233324"/>
                          </a:solidFill>
                          <a:latin typeface="Calibri"/>
                        </a:defRPr>
                      </a:pPr>
                      <a:r>
                        <a:t>0.4888</a:t>
                      </a:r>
                    </a:p>
                  </a:txBody>
                  <a:tcPr marL="73152" marR="73152" marT="18288" marB="18288" anchor="ctr">
                    <a:solidFill>
                      <a:srgbClr val="FFFFFF"/>
                    </a:solidFill>
                  </a:tcPr>
                </a:tc>
                <a:tc>
                  <a:txBody>
                    <a:bodyPr/>
                    <a:lstStyle/>
                    <a:p>
                      <a:pPr algn="ctr">
                        <a:defRPr sz="950" b="0">
                          <a:solidFill>
                            <a:srgbClr val="233324"/>
                          </a:solidFill>
                          <a:latin typeface="Calibri"/>
                        </a:defRPr>
                      </a:pPr>
                      <a:r>
                        <a:t>0.1011</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0.9032</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0.8656</a:t>
                      </a:r>
                    </a:p>
                  </a:txBody>
                  <a:tcPr marL="73152" marR="73152" marT="18288" marB="18288" anchor="ctr">
                    <a:solidFill>
                      <a:srgbClr val="F4F7F1"/>
                    </a:solidFill>
                  </a:tcPr>
                </a:tc>
                <a:tc>
                  <a:txBody>
                    <a:bodyPr/>
                    <a:lstStyle/>
                    <a:p>
                      <a:pPr algn="ctr">
                        <a:defRPr sz="950" b="0">
                          <a:solidFill>
                            <a:srgbClr val="233324"/>
                          </a:solidFill>
                          <a:latin typeface="Calibri"/>
                        </a:defRPr>
                      </a:pPr>
                      <a:r>
                        <a:t>0.0936</a:t>
                      </a:r>
                    </a:p>
                  </a:txBody>
                  <a:tcPr marL="73152" marR="73152" marT="18288" marB="18288" anchor="ctr">
                    <a:solidFill>
                      <a:srgbClr val="F4F7F1"/>
                    </a:solidFill>
                  </a:tcPr>
                </a:tc>
                <a:tc>
                  <a:txBody>
                    <a:bodyPr/>
                    <a:lstStyle/>
                    <a:p>
                      <a:pPr algn="ctr">
                        <a:defRPr sz="950" b="0">
                          <a:solidFill>
                            <a:srgbClr val="233324"/>
                          </a:solidFill>
                          <a:latin typeface="Calibri"/>
                        </a:defRPr>
                      </a:pPr>
                      <a:r>
                        <a:t>0.3491</a:t>
                      </a:r>
                    </a:p>
                  </a:txBody>
                  <a:tcPr marL="73152" marR="73152" marT="18288" marB="18288" anchor="ctr">
                    <a:solidFill>
                      <a:srgbClr val="F4F7F1"/>
                    </a:solidFill>
                  </a:tcPr>
                </a:tc>
                <a:tc>
                  <a:txBody>
                    <a:bodyPr/>
                    <a:lstStyle/>
                    <a:p>
                      <a:pPr algn="ctr">
                        <a:defRPr sz="950" b="0">
                          <a:solidFill>
                            <a:srgbClr val="233324"/>
                          </a:solidFill>
                          <a:latin typeface="Calibri"/>
                        </a:defRPr>
                      </a:pPr>
                      <a:r>
                        <a:t>0.0714</a:t>
                      </a:r>
                    </a:p>
                  </a:txBody>
                  <a:tcPr marL="73152" marR="73152" marT="18288" marB="18288" anchor="ctr">
                    <a:solidFill>
                      <a:srgbClr val="F4F7F1"/>
                    </a:solidFill>
                  </a:tcPr>
                </a:tc>
                <a:tc>
                  <a:txBody>
                    <a:bodyPr/>
                    <a:lstStyle/>
                    <a:p>
                      <a:pPr algn="ctr">
                        <a:defRPr sz="950" b="0">
                          <a:solidFill>
                            <a:srgbClr val="233324"/>
                          </a:solidFill>
                          <a:latin typeface="Calibri"/>
                        </a:defRPr>
                      </a:pPr>
                      <a:r>
                        <a:t>88.5%</a:t>
                      </a:r>
                    </a:p>
                  </a:txBody>
                  <a:tcPr marL="73152" marR="73152" marT="18288" marB="18288" anchor="ctr">
                    <a:solidFill>
                      <a:srgbClr val="F4F7F1"/>
                    </a:solidFill>
                  </a:tcPr>
                </a:tc>
                <a:tc>
                  <a:txBody>
                    <a:bodyPr/>
                    <a:lstStyle/>
                    <a:p>
                      <a:pPr algn="ctr">
                        <a:defRPr sz="950" b="0">
                          <a:solidFill>
                            <a:srgbClr val="233324"/>
                          </a:solidFill>
                          <a:latin typeface="Calibri"/>
                        </a:defRPr>
                      </a:pPr>
                      <a:r>
                        <a:t>0.9032</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0.8781</a:t>
                      </a:r>
                    </a:p>
                  </a:txBody>
                  <a:tcPr marL="73152" marR="73152" marT="18288" marB="18288" anchor="ctr">
                    <a:solidFill>
                      <a:srgbClr val="FFFFFF"/>
                    </a:solidFill>
                  </a:tcPr>
                </a:tc>
                <a:tc>
                  <a:txBody>
                    <a:bodyPr/>
                    <a:lstStyle/>
                    <a:p>
                      <a:pPr algn="ctr">
                        <a:defRPr sz="950" b="0">
                          <a:solidFill>
                            <a:srgbClr val="233324"/>
                          </a:solidFill>
                          <a:latin typeface="Calibri"/>
                        </a:defRPr>
                      </a:pPr>
                      <a:r>
                        <a:t>0.1007</a:t>
                      </a:r>
                    </a:p>
                  </a:txBody>
                  <a:tcPr marL="73152" marR="73152" marT="18288" marB="18288" anchor="ctr">
                    <a:solidFill>
                      <a:srgbClr val="FFFFFF"/>
                    </a:solidFill>
                  </a:tcPr>
                </a:tc>
                <a:tc>
                  <a:txBody>
                    <a:bodyPr/>
                    <a:lstStyle/>
                    <a:p>
                      <a:pPr algn="ctr">
                        <a:defRPr sz="950" b="0">
                          <a:solidFill>
                            <a:srgbClr val="233324"/>
                          </a:solidFill>
                          <a:latin typeface="Calibri"/>
                        </a:defRPr>
                      </a:pPr>
                      <a:r>
                        <a:t>2.7513</a:t>
                      </a:r>
                    </a:p>
                  </a:txBody>
                  <a:tcPr marL="73152" marR="73152" marT="18288" marB="18288" anchor="ctr">
                    <a:solidFill>
                      <a:srgbClr val="FFFFFF"/>
                    </a:solidFill>
                  </a:tcPr>
                </a:tc>
                <a:tc>
                  <a:txBody>
                    <a:bodyPr/>
                    <a:lstStyle/>
                    <a:p>
                      <a:pPr algn="ctr">
                        <a:defRPr sz="950" b="0">
                          <a:solidFill>
                            <a:srgbClr val="233324"/>
                          </a:solidFill>
                          <a:latin typeface="Calibri"/>
                        </a:defRPr>
                      </a:pPr>
                      <a:r>
                        <a:t>0.0592</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0.9032</a:t>
                      </a:r>
                    </a:p>
                  </a:txBody>
                  <a:tcPr marL="73152" marR="73152" marT="18288" marB="18288" anchor="ctr">
                    <a:solidFill>
                      <a:srgbClr val="FFFFFF"/>
                    </a:solidFill>
                  </a:tcPr>
                </a:tc>
              </a:tr>
              <a:tr h="274320">
                <a:tc>
                  <a:txBody>
                    <a:bodyPr/>
                    <a:lstStyle/>
                    <a:p>
                      <a:pPr algn="l">
                        <a:defRPr sz="950" b="1">
                          <a:solidFill>
                            <a:srgbClr val="233324"/>
                          </a:solidFill>
                          <a:latin typeface="Calibri"/>
                        </a:defRPr>
                      </a:pPr>
                      <a:r>
                        <a:t>MLP Neural Network</a:t>
                      </a:r>
                    </a:p>
                  </a:txBody>
                  <a:tcPr marL="73152" marR="73152" marT="18288" marB="18288" anchor="ctr">
                    <a:solidFill>
                      <a:srgbClr val="E4EFD8"/>
                    </a:solidFill>
                  </a:tcPr>
                </a:tc>
                <a:tc>
                  <a:txBody>
                    <a:bodyPr/>
                    <a:lstStyle/>
                    <a:p>
                      <a:pPr algn="ctr">
                        <a:defRPr sz="950" b="1">
                          <a:solidFill>
                            <a:srgbClr val="233324"/>
                          </a:solidFill>
                          <a:latin typeface="Calibri"/>
                        </a:defRPr>
                      </a:pPr>
                      <a:r>
                        <a:t>Raw</a:t>
                      </a:r>
                    </a:p>
                  </a:txBody>
                  <a:tcPr marL="73152" marR="73152" marT="18288" marB="18288" anchor="ctr">
                    <a:solidFill>
                      <a:srgbClr val="E4EFD8"/>
                    </a:solidFill>
                  </a:tcPr>
                </a:tc>
                <a:tc>
                  <a:txBody>
                    <a:bodyPr/>
                    <a:lstStyle/>
                    <a:p>
                      <a:pPr algn="ctr">
                        <a:defRPr sz="950" b="1">
                          <a:solidFill>
                            <a:srgbClr val="233324"/>
                          </a:solidFill>
                          <a:latin typeface="Calibri"/>
                        </a:defRPr>
                      </a:pPr>
                      <a:r>
                        <a:t>1.0000</a:t>
                      </a:r>
                    </a:p>
                  </a:txBody>
                  <a:tcPr marL="73152" marR="73152" marT="18288" marB="18288" anchor="ctr">
                    <a:solidFill>
                      <a:srgbClr val="E4EFD8"/>
                    </a:solidFill>
                  </a:tcPr>
                </a:tc>
                <a:tc>
                  <a:txBody>
                    <a:bodyPr/>
                    <a:lstStyle/>
                    <a:p>
                      <a:pPr algn="ctr">
                        <a:defRPr sz="950" b="1">
                          <a:solidFill>
                            <a:srgbClr val="233324"/>
                          </a:solidFill>
                          <a:latin typeface="Calibri"/>
                        </a:defRPr>
                      </a:pPr>
                      <a:r>
                        <a:t>0.0127</a:t>
                      </a:r>
                    </a:p>
                  </a:txBody>
                  <a:tcPr marL="73152" marR="73152" marT="18288" marB="18288" anchor="ctr">
                    <a:solidFill>
                      <a:srgbClr val="E4EFD8"/>
                    </a:solidFill>
                  </a:tcPr>
                </a:tc>
                <a:tc>
                  <a:txBody>
                    <a:bodyPr/>
                    <a:lstStyle/>
                    <a:p>
                      <a:pPr algn="ctr">
                        <a:defRPr sz="950" b="1">
                          <a:solidFill>
                            <a:srgbClr val="233324"/>
                          </a:solidFill>
                          <a:latin typeface="Calibri"/>
                        </a:defRPr>
                      </a:pPr>
                      <a:r>
                        <a:t>0.0341</a:t>
                      </a:r>
                    </a:p>
                  </a:txBody>
                  <a:tcPr marL="73152" marR="73152" marT="18288" marB="18288" anchor="ctr">
                    <a:solidFill>
                      <a:srgbClr val="E4EFD8"/>
                    </a:solidFill>
                  </a:tcPr>
                </a:tc>
                <a:tc>
                  <a:txBody>
                    <a:bodyPr/>
                    <a:lstStyle/>
                    <a:p>
                      <a:pPr algn="ctr">
                        <a:defRPr sz="950" b="1">
                          <a:solidFill>
                            <a:srgbClr val="233324"/>
                          </a:solidFill>
                          <a:latin typeface="Calibri"/>
                        </a:defRPr>
                      </a:pPr>
                      <a:r>
                        <a:t>0.0233</a:t>
                      </a:r>
                    </a:p>
                  </a:txBody>
                  <a:tcPr marL="73152" marR="73152" marT="18288" marB="18288" anchor="ctr">
                    <a:solidFill>
                      <a:srgbClr val="E4EFD8"/>
                    </a:solidFill>
                  </a:tcPr>
                </a:tc>
                <a:tc>
                  <a:txBody>
                    <a:bodyPr/>
                    <a:lstStyle/>
                    <a:p>
                      <a:pPr algn="ctr">
                        <a:defRPr sz="950" b="1">
                          <a:solidFill>
                            <a:srgbClr val="233324"/>
                          </a:solidFill>
                          <a:latin typeface="Calibri"/>
                        </a:defRPr>
                      </a:pPr>
                      <a:r>
                        <a:t>96.2%</a:t>
                      </a:r>
                    </a:p>
                  </a:txBody>
                  <a:tcPr marL="73152" marR="73152" marT="18288" marB="18288" anchor="ctr">
                    <a:solidFill>
                      <a:srgbClr val="E4EFD8"/>
                    </a:solidFill>
                  </a:tcPr>
                </a:tc>
                <a:tc>
                  <a:txBody>
                    <a:bodyPr/>
                    <a:lstStyle/>
                    <a:p>
                      <a:pPr algn="ctr">
                        <a:defRPr sz="950" b="1">
                          <a:solidFill>
                            <a:srgbClr val="233324"/>
                          </a:solidFill>
                          <a:latin typeface="Calibri"/>
                        </a:defRPr>
                      </a:pPr>
                      <a:r>
                        <a:t>0.9697</a:t>
                      </a:r>
                    </a:p>
                  </a:txBody>
                  <a:tcPr marL="73152" marR="73152" marT="18288" marB="18288" anchor="ctr">
                    <a:solidFill>
                      <a:srgbClr val="E4EFD8"/>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0.0216</a:t>
                      </a:r>
                    </a:p>
                  </a:txBody>
                  <a:tcPr marL="73152" marR="73152" marT="18288" marB="18288" anchor="ctr">
                    <a:solidFill>
                      <a:srgbClr val="FFFFFF"/>
                    </a:solidFill>
                  </a:tcPr>
                </a:tc>
                <a:tc>
                  <a:txBody>
                    <a:bodyPr/>
                    <a:lstStyle/>
                    <a:p>
                      <a:pPr algn="ctr">
                        <a:defRPr sz="950" b="0">
                          <a:solidFill>
                            <a:srgbClr val="233324"/>
                          </a:solidFill>
                          <a:latin typeface="Calibri"/>
                        </a:defRPr>
                      </a:pPr>
                      <a:r>
                        <a:t>0.1150</a:t>
                      </a:r>
                    </a:p>
                  </a:txBody>
                  <a:tcPr marL="73152" marR="73152" marT="18288" marB="18288" anchor="ctr">
                    <a:solidFill>
                      <a:srgbClr val="FFFFFF"/>
                    </a:solidFill>
                  </a:tcPr>
                </a:tc>
                <a:tc>
                  <a:txBody>
                    <a:bodyPr/>
                    <a:lstStyle/>
                    <a:p>
                      <a:pPr algn="ctr">
                        <a:defRPr sz="950" b="0">
                          <a:solidFill>
                            <a:srgbClr val="233324"/>
                          </a:solidFill>
                          <a:latin typeface="Calibri"/>
                        </a:defRPr>
                      </a:pPr>
                      <a:r>
                        <a:t>0.0990</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c>
                  <a:txBody>
                    <a:bodyPr/>
                    <a:lstStyle/>
                    <a:p>
                      <a:pPr algn="ctr">
                        <a:defRPr sz="950" b="0">
                          <a:solidFill>
                            <a:srgbClr val="233324"/>
                          </a:solidFill>
                          <a:latin typeface="Calibri"/>
                        </a:defRPr>
                      </a:pPr>
                      <a:r>
                        <a:t>0.0138</a:t>
                      </a:r>
                    </a:p>
                  </a:txBody>
                  <a:tcPr marL="73152" marR="73152" marT="18288" marB="18288" anchor="ctr">
                    <a:solidFill>
                      <a:srgbClr val="F4F7F1"/>
                    </a:solidFill>
                  </a:tcPr>
                </a:tc>
                <a:tc>
                  <a:txBody>
                    <a:bodyPr/>
                    <a:lstStyle/>
                    <a:p>
                      <a:pPr algn="ctr">
                        <a:defRPr sz="950" b="0">
                          <a:solidFill>
                            <a:srgbClr val="233324"/>
                          </a:solidFill>
                          <a:latin typeface="Calibri"/>
                        </a:defRPr>
                      </a:pPr>
                      <a:r>
                        <a:t>0.0356</a:t>
                      </a:r>
                    </a:p>
                  </a:txBody>
                  <a:tcPr marL="73152" marR="73152" marT="18288" marB="18288" anchor="ctr">
                    <a:solidFill>
                      <a:srgbClr val="F4F7F1"/>
                    </a:solidFill>
                  </a:tcPr>
                </a:tc>
                <a:tc>
                  <a:txBody>
                    <a:bodyPr/>
                    <a:lstStyle/>
                    <a:p>
                      <a:pPr algn="ctr">
                        <a:defRPr sz="950" b="0">
                          <a:solidFill>
                            <a:srgbClr val="233324"/>
                          </a:solidFill>
                          <a:latin typeface="Calibri"/>
                        </a:defRPr>
                      </a:pPr>
                      <a:r>
                        <a:t>0.0234</a:t>
                      </a:r>
                    </a:p>
                  </a:txBody>
                  <a:tcPr marL="73152" marR="73152" marT="18288" marB="18288" anchor="ctr">
                    <a:solidFill>
                      <a:srgbClr val="F4F7F1"/>
                    </a:solidFill>
                  </a:tcPr>
                </a:tc>
                <a:tc>
                  <a:txBody>
                    <a:bodyPr/>
                    <a:lstStyle/>
                    <a:p>
                      <a:pPr algn="ctr">
                        <a:defRPr sz="950" b="0">
                          <a:solidFill>
                            <a:srgbClr val="233324"/>
                          </a:solidFill>
                          <a:latin typeface="Calibri"/>
                        </a:defRPr>
                      </a:pPr>
                      <a:r>
                        <a:t>96.2%</a:t>
                      </a:r>
                    </a:p>
                  </a:txBody>
                  <a:tcPr marL="73152" marR="73152" marT="18288" marB="18288" anchor="ctr">
                    <a:solidFill>
                      <a:srgbClr val="F4F7F1"/>
                    </a:solidFill>
                  </a:tcPr>
                </a:tc>
                <a:tc>
                  <a:txBody>
                    <a:bodyPr/>
                    <a:lstStyle/>
                    <a:p>
                      <a:pPr algn="ctr">
                        <a:defRPr sz="950" b="0">
                          <a:solidFill>
                            <a:srgbClr val="233324"/>
                          </a:solidFill>
                          <a:latin typeface="Calibri"/>
                        </a:defRPr>
                      </a:pPr>
                      <a:r>
                        <a:t>0.9697</a:t>
                      </a:r>
                    </a:p>
                  </a:txBody>
                  <a:tcPr marL="73152" marR="73152" marT="18288" marB="18288" anchor="ctr">
                    <a:solidFill>
                      <a:srgbClr val="F4F7F1"/>
                    </a:solidFill>
                  </a:tcPr>
                </a:tc>
              </a:tr>
            </a:tbl>
          </a:graphicData>
        </a:graphic>
      </p:graphicFrame>
      <p:sp>
        <p:nvSpPr>
          <p:cNvPr id="8" name="TextBox 7"/>
          <p:cNvSpPr txBox="1"/>
          <p:nvPr/>
        </p:nvSpPr>
        <p:spPr>
          <a:xfrm>
            <a:off x="731520" y="5897880"/>
            <a:ext cx="10744200" cy="502920"/>
          </a:xfrm>
          <a:prstGeom prst="rect">
            <a:avLst/>
          </a:prstGeom>
          <a:noFill/>
        </p:spPr>
        <p:txBody>
          <a:bodyPr wrap="square" lIns="0" tIns="0" rIns="0" bIns="0">
            <a:spAutoFit/>
          </a:bodyPr>
          <a:lstStyle/>
          <a:p>
            <a:pPr algn="l">
              <a:lnSpc>
                <a:spcPct val="100000"/>
              </a:lnSpc>
              <a:defRPr sz="1150" b="1">
                <a:solidFill>
                  <a:srgbClr val="1E4220"/>
                </a:solidFill>
                <a:latin typeface="Calibri"/>
              </a:defRPr>
            </a:pPr>
            <a:r>
              <a:t>Model rekomendasi (Brier Score terendah): MLP Neural Network — kalibrasi Raw  ·  Brier 0.0127  ·  ECE 0.0233  ·  ROC-AUC 1.0000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Kurva ROC dan Diagram Reliabilitas Kalibrasi</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grafik dari pipeline eksperimen (folder `hasil_eksperimen/`)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14</a:t>
            </a:r>
          </a:p>
        </p:txBody>
      </p:sp>
      <p:pic>
        <p:nvPicPr>
          <p:cNvPr id="7" name="Picture 6" descr="kurva_roc_perbandingan.png"/>
          <p:cNvPicPr>
            <a:picLocks noChangeAspect="1"/>
          </p:cNvPicPr>
          <p:nvPr/>
        </p:nvPicPr>
        <p:blipFill>
          <a:blip r:embed="rId2"/>
          <a:stretch>
            <a:fillRect/>
          </a:stretch>
        </p:blipFill>
        <p:spPr>
          <a:xfrm>
            <a:off x="1188720" y="1828800"/>
            <a:ext cx="4528118" cy="3520440"/>
          </a:xfrm>
          <a:prstGeom prst="rect">
            <a:avLst/>
          </a:prstGeom>
        </p:spPr>
      </p:pic>
      <p:pic>
        <p:nvPicPr>
          <p:cNvPr id="8" name="Picture 7" descr="kurva_kalibrasi_probabilitas.png"/>
          <p:cNvPicPr>
            <a:picLocks noChangeAspect="1"/>
          </p:cNvPicPr>
          <p:nvPr/>
        </p:nvPicPr>
        <p:blipFill>
          <a:blip r:embed="rId3"/>
          <a:stretch>
            <a:fillRect/>
          </a:stretch>
        </p:blipFill>
        <p:spPr>
          <a:xfrm>
            <a:off x="6355080" y="2331720"/>
            <a:ext cx="5120640" cy="2568351"/>
          </a:xfrm>
          <a:prstGeom prst="rect">
            <a:avLst/>
          </a:prstGeom>
        </p:spPr>
      </p:pic>
      <p:sp>
        <p:nvSpPr>
          <p:cNvPr id="9" name="TextBox 8"/>
          <p:cNvSpPr txBox="1"/>
          <p:nvPr/>
        </p:nvSpPr>
        <p:spPr>
          <a:xfrm>
            <a:off x="77724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Diskriminasi: Logistic Regression dan MLP mencapai ROC-AUC 1.000; Gradient Boosting terendah (0.903).</a:t>
            </a:r>
          </a:p>
        </p:txBody>
      </p:sp>
      <p:sp>
        <p:nvSpPr>
          <p:cNvPr id="10" name="TextBox 9"/>
          <p:cNvSpPr txBox="1"/>
          <p:nvPr/>
        </p:nvSpPr>
        <p:spPr>
          <a:xfrm>
            <a:off x="635508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Kalibrasi: titik yang mendekati garis diagonal menandakan probabilitas dapat dipercaya. Kalibrasi sekunder hanya memperbaiki Gradient Boosting.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Temuan Kunci dan Prediktor Dominan</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15</a:t>
            </a:r>
          </a:p>
        </p:txBody>
      </p:sp>
      <p:pic>
        <p:nvPicPr>
          <p:cNvPr id="6" name="Picture 5" descr="feature_importance_comparison.png"/>
          <p:cNvPicPr>
            <a:picLocks noChangeAspect="1"/>
          </p:cNvPicPr>
          <p:nvPr/>
        </p:nvPicPr>
        <p:blipFill>
          <a:blip r:embed="rId2"/>
          <a:stretch>
            <a:fillRect/>
          </a:stretch>
        </p:blipFill>
        <p:spPr>
          <a:xfrm>
            <a:off x="731520" y="2468880"/>
            <a:ext cx="5532120" cy="2865573"/>
          </a:xfrm>
          <a:prstGeom prst="rect">
            <a:avLst/>
          </a:prstGeom>
        </p:spPr>
      </p:pic>
      <p:sp>
        <p:nvSpPr>
          <p:cNvPr id="7" name="Rounded Rectangle 6"/>
          <p:cNvSpPr/>
          <p:nvPr/>
        </p:nvSpPr>
        <p:spPr>
          <a:xfrm>
            <a:off x="6492240" y="1874519"/>
            <a:ext cx="49834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66560" y="2084831"/>
            <a:ext cx="44348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TEMUAN</a:t>
            </a:r>
          </a:p>
        </p:txBody>
      </p:sp>
      <p:sp>
        <p:nvSpPr>
          <p:cNvPr id="9" name="TextBox 8"/>
          <p:cNvSpPr txBox="1"/>
          <p:nvPr/>
        </p:nvSpPr>
        <p:spPr>
          <a:xfrm>
            <a:off x="6766560" y="2487168"/>
            <a:ext cx="4434840" cy="347472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Model rekomendasi: MLP Neural Network (Raw) dengan Brier 0.0127.</a:t>
            </a:r>
          </a:p>
          <a:p>
            <a:pPr algn="l">
              <a:lnSpc>
                <a:spcPct val="125000"/>
              </a:lnSpc>
              <a:defRPr sz="1050" b="0">
                <a:solidFill>
                  <a:srgbClr val="233324"/>
                </a:solidFill>
                <a:latin typeface="Calibri"/>
              </a:defRPr>
            </a:pPr>
            <a:r>
              <a:t>•  Kalibrasi sekunder tidak selalu membantu: pada model yang probabilitasnya sudah baik, kalibrator yang dilatih dari ±20 sampel justru menambah noise.</a:t>
            </a:r>
          </a:p>
          <a:p>
            <a:pPr algn="l">
              <a:lnSpc>
                <a:spcPct val="125000"/>
              </a:lnSpc>
              <a:defRPr sz="1050" b="0">
                <a:solidFill>
                  <a:srgbClr val="233324"/>
                </a:solidFill>
                <a:latin typeface="Calibri"/>
              </a:defRPr>
            </a:pPr>
            <a:r>
              <a:t>•  Prediktor dominan (MDI Random Forest): SPI_Value (0.310), Risk_Score (0.307), Resource_Utilization_Rate (0.156).</a:t>
            </a:r>
          </a:p>
          <a:p>
            <a:pPr algn="l">
              <a:lnSpc>
                <a:spcPct val="125000"/>
              </a:lnSpc>
              <a:defRPr sz="1050" b="0">
                <a:solidFill>
                  <a:srgbClr val="233324"/>
                </a:solidFill>
                <a:latin typeface="Calibri"/>
              </a:defRPr>
            </a:pPr>
            <a:r>
              <a:t>•  Hipotesis kendala sumber daya belum terdukung kuat: utilisasi berada di peringkat ketiga dan Predecessor_Count hanya 0.021.</a:t>
            </a:r>
          </a:p>
          <a:p>
            <a:pPr algn="l">
              <a:lnSpc>
                <a:spcPct val="125000"/>
              </a:lnSpc>
              <a:defRPr sz="1050" b="0">
                <a:solidFill>
                  <a:srgbClr val="233324"/>
                </a:solidFill>
                <a:latin typeface="Calibri"/>
              </a:defRPr>
            </a:pPr>
            <a:r>
              <a:t>•  Interpretasi manajerial: utilisasi berlebih adalah penyebab, penurunan SPI adalah manifestasinya, sehingga keduanya perlu dibaca sebagai satu kaskade.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Penerapan Early Warning System dan Threshold Analysis</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Zonasi operasional: Hijau P &lt; 0.35  ·  Kuning 0.35 ≤ P &lt; 0.65  ·  Merah P ≥ 0.65</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16</a:t>
            </a:r>
          </a:p>
        </p:txBody>
      </p:sp>
      <p:sp>
        <p:nvSpPr>
          <p:cNvPr id="7" name="Rounded Rectangle 6"/>
          <p:cNvSpPr/>
          <p:nvPr/>
        </p:nvSpPr>
        <p:spPr>
          <a:xfrm>
            <a:off x="7315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075688"/>
            <a:ext cx="2057400" cy="274320"/>
          </a:xfrm>
          <a:prstGeom prst="rect">
            <a:avLst/>
          </a:prstGeom>
          <a:noFill/>
        </p:spPr>
        <p:txBody>
          <a:bodyPr wrap="square" lIns="0" tIns="0" rIns="0" bIns="0">
            <a:spAutoFit/>
          </a:bodyPr>
          <a:lstStyle/>
          <a:p>
            <a:pPr algn="l">
              <a:lnSpc>
                <a:spcPct val="100000"/>
              </a:lnSpc>
              <a:defRPr sz="950" b="1">
                <a:solidFill>
                  <a:srgbClr val="B33A2F"/>
                </a:solidFill>
                <a:latin typeface="Calibri"/>
              </a:defRPr>
            </a:pPr>
            <a:r>
              <a:t>ZONA MERAH</a:t>
            </a:r>
          </a:p>
        </p:txBody>
      </p:sp>
      <p:sp>
        <p:nvSpPr>
          <p:cNvPr id="9" name="TextBox 8"/>
          <p:cNvSpPr txBox="1"/>
          <p:nvPr/>
        </p:nvSpPr>
        <p:spPr>
          <a:xfrm>
            <a:off x="9601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task</a:t>
            </a:r>
          </a:p>
        </p:txBody>
      </p:sp>
      <p:sp>
        <p:nvSpPr>
          <p:cNvPr id="10" name="TextBox 9"/>
          <p:cNvSpPr txBox="1"/>
          <p:nvPr/>
        </p:nvSpPr>
        <p:spPr>
          <a:xfrm>
            <a:off x="9601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16 dari 16 task terlambat tertangkap</a:t>
            </a:r>
          </a:p>
        </p:txBody>
      </p:sp>
      <p:sp>
        <p:nvSpPr>
          <p:cNvPr id="11" name="Rounded Rectangle 10"/>
          <p:cNvSpPr/>
          <p:nvPr/>
        </p:nvSpPr>
        <p:spPr>
          <a:xfrm>
            <a:off x="34747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75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ZONA KUNING</a:t>
            </a:r>
          </a:p>
        </p:txBody>
      </p:sp>
      <p:sp>
        <p:nvSpPr>
          <p:cNvPr id="13" name="TextBox 12"/>
          <p:cNvSpPr txBox="1"/>
          <p:nvPr/>
        </p:nvSpPr>
        <p:spPr>
          <a:xfrm>
            <a:off x="37033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 task</a:t>
            </a:r>
          </a:p>
        </p:txBody>
      </p:sp>
      <p:sp>
        <p:nvSpPr>
          <p:cNvPr id="14" name="TextBox 13"/>
          <p:cNvSpPr txBox="1"/>
          <p:nvPr/>
        </p:nvSpPr>
        <p:spPr>
          <a:xfrm>
            <a:off x="37033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perlu peninjauan ulang sumber daya</a:t>
            </a:r>
          </a:p>
        </p:txBody>
      </p:sp>
      <p:sp>
        <p:nvSpPr>
          <p:cNvPr id="15" name="Rounded Rectangle 14"/>
          <p:cNvSpPr/>
          <p:nvPr/>
        </p:nvSpPr>
        <p:spPr>
          <a:xfrm>
            <a:off x="62179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465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ZONA HIJAU</a:t>
            </a:r>
          </a:p>
        </p:txBody>
      </p:sp>
      <p:sp>
        <p:nvSpPr>
          <p:cNvPr id="17" name="TextBox 16"/>
          <p:cNvSpPr txBox="1"/>
          <p:nvPr/>
        </p:nvSpPr>
        <p:spPr>
          <a:xfrm>
            <a:off x="64465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9 task</a:t>
            </a:r>
          </a:p>
        </p:txBody>
      </p:sp>
      <p:sp>
        <p:nvSpPr>
          <p:cNvPr id="18" name="TextBox 17"/>
          <p:cNvSpPr txBox="1"/>
          <p:nvPr/>
        </p:nvSpPr>
        <p:spPr>
          <a:xfrm>
            <a:off x="64465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ada task terlambat yang lolos ke zona ini</a:t>
            </a:r>
          </a:p>
        </p:txBody>
      </p:sp>
      <p:sp>
        <p:nvSpPr>
          <p:cNvPr id="19" name="Rounded Rectangle 18"/>
          <p:cNvSpPr/>
          <p:nvPr/>
        </p:nvSpPr>
        <p:spPr>
          <a:xfrm>
            <a:off x="89611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897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AMBANG YOUDEN J</a:t>
            </a:r>
          </a:p>
        </p:txBody>
      </p:sp>
      <p:sp>
        <p:nvSpPr>
          <p:cNvPr id="21" name="TextBox 20"/>
          <p:cNvSpPr txBox="1"/>
          <p:nvPr/>
        </p:nvSpPr>
        <p:spPr>
          <a:xfrm>
            <a:off x="91897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θ* = 0.779</a:t>
            </a:r>
          </a:p>
        </p:txBody>
      </p:sp>
      <p:sp>
        <p:nvSpPr>
          <p:cNvPr id="22" name="TextBox 21"/>
          <p:cNvSpPr txBox="1"/>
          <p:nvPr/>
        </p:nvSpPr>
        <p:spPr>
          <a:xfrm>
            <a:off x="91897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ambang optimal statistik, dilaporkan terpisah dari ambang operasional</a:t>
            </a:r>
          </a:p>
        </p:txBody>
      </p:sp>
      <p:graphicFrame>
        <p:nvGraphicFramePr>
          <p:cNvPr id="23" name="Table 22"/>
          <p:cNvGraphicFramePr>
            <a:graphicFrameLocks noGrp="1"/>
          </p:cNvGraphicFramePr>
          <p:nvPr/>
        </p:nvGraphicFramePr>
        <p:xfrm>
          <a:off x="731520" y="3886200"/>
          <a:ext cx="10744200" cy="1682496"/>
        </p:xfrm>
        <a:graphic>
          <a:graphicData uri="http://schemas.openxmlformats.org/drawingml/2006/table">
            <a:tbl>
              <a:tblPr firstRow="1" bandRow="1">
                <a:tableStyleId>{5C22544A-7EE6-4342-B048-85BDC9FD1C3A}</a:tableStyleId>
              </a:tblPr>
              <a:tblGrid>
                <a:gridCol w="1051560"/>
                <a:gridCol w="1234440"/>
                <a:gridCol w="4297680"/>
                <a:gridCol w="1417320"/>
                <a:gridCol w="1234440"/>
                <a:gridCol w="1508760"/>
              </a:tblGrid>
              <a:tr h="310896">
                <a:tc>
                  <a:txBody>
                    <a:bodyPr/>
                    <a:lstStyle/>
                    <a:p>
                      <a:pPr algn="l">
                        <a:defRPr sz="1000" b="1">
                          <a:solidFill>
                            <a:srgbClr val="FFFFFF"/>
                          </a:solidFill>
                          <a:latin typeface="Calibri"/>
                        </a:defRPr>
                      </a:pPr>
                      <a:r>
                        <a:t>Task</a:t>
                      </a:r>
                    </a:p>
                  </a:txBody>
                  <a:tcPr marL="73152" marR="73152" marT="18288" marB="18288" anchor="ctr">
                    <a:solidFill>
                      <a:srgbClr val="1E4220"/>
                    </a:solidFill>
                  </a:tcPr>
                </a:tc>
                <a:tc>
                  <a:txBody>
                    <a:bodyPr/>
                    <a:lstStyle/>
                    <a:p>
                      <a:pPr algn="l">
                        <a:defRPr sz="1000" b="1">
                          <a:solidFill>
                            <a:srgbClr val="FFFFFF"/>
                          </a:solidFill>
                          <a:latin typeface="Calibri"/>
                        </a:defRPr>
                      </a:pPr>
                      <a:r>
                        <a:t>Sub-proyek</a:t>
                      </a:r>
                    </a:p>
                  </a:txBody>
                  <a:tcPr marL="73152" marR="73152" marT="18288" marB="18288" anchor="ctr">
                    <a:solidFill>
                      <a:srgbClr val="1E4220"/>
                    </a:solidFill>
                  </a:tcPr>
                </a:tc>
                <a:tc>
                  <a:txBody>
                    <a:bodyPr/>
                    <a:lstStyle/>
                    <a:p>
                      <a:pPr algn="l">
                        <a:defRPr sz="1000" b="1">
                          <a:solidFill>
                            <a:srgbClr val="FFFFFF"/>
                          </a:solidFill>
                          <a:latin typeface="Calibri"/>
                        </a:defRPr>
                      </a:pPr>
                      <a:r>
                        <a:t>Aktivitas</a:t>
                      </a:r>
                    </a:p>
                  </a:txBody>
                  <a:tcPr marL="73152" marR="73152" marT="18288" marB="18288" anchor="ctr">
                    <a:solidFill>
                      <a:srgbClr val="1E4220"/>
                    </a:solidFill>
                  </a:tcPr>
                </a:tc>
                <a:tc>
                  <a:txBody>
                    <a:bodyPr/>
                    <a:lstStyle/>
                    <a:p>
                      <a:pPr algn="ctr">
                        <a:defRPr sz="1000" b="1">
                          <a:solidFill>
                            <a:srgbClr val="FFFFFF"/>
                          </a:solidFill>
                          <a:latin typeface="Calibri"/>
                        </a:defRPr>
                      </a:pPr>
                      <a:r>
                        <a:t>Aktual</a:t>
                      </a:r>
                    </a:p>
                  </a:txBody>
                  <a:tcPr marL="73152" marR="73152" marT="18288" marB="18288" anchor="ctr">
                    <a:solidFill>
                      <a:srgbClr val="1E4220"/>
                    </a:solidFill>
                  </a:tcPr>
                </a:tc>
                <a:tc>
                  <a:txBody>
                    <a:bodyPr/>
                    <a:lstStyle/>
                    <a:p>
                      <a:pPr algn="ctr">
                        <a:defRPr sz="1000" b="1">
                          <a:solidFill>
                            <a:srgbClr val="FFFFFF"/>
                          </a:solidFill>
                          <a:latin typeface="Calibri"/>
                        </a:defRPr>
                      </a:pPr>
                      <a:r>
                        <a:t>P(Delay)</a:t>
                      </a:r>
                    </a:p>
                  </a:txBody>
                  <a:tcPr marL="73152" marR="73152" marT="18288" marB="18288" anchor="ctr">
                    <a:solidFill>
                      <a:srgbClr val="1E4220"/>
                    </a:solidFill>
                  </a:tcPr>
                </a:tc>
                <a:tc>
                  <a:txBody>
                    <a:bodyPr/>
                    <a:lstStyle/>
                    <a:p>
                      <a:pPr algn="ctr">
                        <a:defRPr sz="1000" b="1">
                          <a:solidFill>
                            <a:srgbClr val="FFFFFF"/>
                          </a:solidFill>
                          <a:latin typeface="Calibri"/>
                        </a:defRPr>
                      </a:pPr>
                      <a:r>
                        <a:t>Zona EWS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ACT-026</a:t>
                      </a:r>
                    </a:p>
                  </a:txBody>
                  <a:tcPr marL="73152" marR="73152" marT="18288" marB="18288" anchor="ctr">
                    <a:solidFill>
                      <a:srgbClr val="FFFFFF"/>
                    </a:solidFill>
                  </a:tcPr>
                </a:tc>
                <a:tc>
                  <a:txBody>
                    <a:bodyPr/>
                    <a:lstStyle/>
                    <a:p>
                      <a:pPr algn="l">
                        <a:defRPr sz="1000" b="0">
                          <a:solidFill>
                            <a:srgbClr val="233324"/>
                          </a:solidFill>
                          <a:latin typeface="Calibri"/>
                        </a:defRPr>
                      </a:pPr>
                      <a:r>
                        <a:t>P-FNE-08</a:t>
                      </a:r>
                    </a:p>
                  </a:txBody>
                  <a:tcPr marL="73152" marR="73152" marT="18288" marB="18288" anchor="ctr">
                    <a:solidFill>
                      <a:srgbClr val="FFFFFF"/>
                    </a:solidFill>
                  </a:tcPr>
                </a:tc>
                <a:tc>
                  <a:txBody>
                    <a:bodyPr/>
                    <a:lstStyle/>
                    <a:p>
                      <a:pPr algn="l">
                        <a:defRPr sz="1000" b="0">
                          <a:solidFill>
                            <a:srgbClr val="233324"/>
                          </a:solidFill>
                          <a:latin typeface="Calibri"/>
                        </a:defRPr>
                      </a:pPr>
                      <a:r>
                        <a:t>What-If Simulation Engine &amp; Autonomous Re…</a:t>
                      </a:r>
                    </a:p>
                  </a:txBody>
                  <a:tcPr marL="73152" marR="73152" marT="18288" marB="18288" anchor="ctr">
                    <a:solidFill>
                      <a:srgbClr val="FFFFFF"/>
                    </a:solidFill>
                  </a:tcPr>
                </a:tc>
                <a:tc>
                  <a:txBody>
                    <a:bodyPr/>
                    <a:lstStyle/>
                    <a:p>
                      <a:pPr algn="ctr">
                        <a:defRPr sz="1000" b="0">
                          <a:solidFill>
                            <a:srgbClr val="233324"/>
                          </a:solidFill>
                          <a:latin typeface="Calibri"/>
                        </a:defRPr>
                      </a:pPr>
                      <a:r>
                        <a:t>Terlambat</a:t>
                      </a:r>
                    </a:p>
                  </a:txBody>
                  <a:tcPr marL="73152" marR="73152" marT="18288" marB="18288" anchor="ctr">
                    <a:solidFill>
                      <a:srgbClr val="FFFFFF"/>
                    </a:solidFill>
                  </a:tcPr>
                </a:tc>
                <a:tc>
                  <a:txBody>
                    <a:bodyPr/>
                    <a:lstStyle/>
                    <a:p>
                      <a:pPr algn="ctr">
                        <a:defRPr sz="1000" b="0">
                          <a:solidFill>
                            <a:srgbClr val="233324"/>
                          </a:solidFill>
                          <a:latin typeface="Calibri"/>
                        </a:defRPr>
                      </a:pPr>
                      <a:r>
                        <a:t>1.0000</a:t>
                      </a:r>
                    </a:p>
                  </a:txBody>
                  <a:tcPr marL="73152" marR="73152" marT="18288" marB="18288" anchor="ctr">
                    <a:solidFill>
                      <a:srgbClr val="FFFFFF"/>
                    </a:solidFill>
                  </a:tcPr>
                </a:tc>
                <a:tc>
                  <a:txBody>
                    <a:bodyPr/>
                    <a:lstStyle/>
                    <a:p>
                      <a:pPr algn="ctr">
                        <a:defRPr sz="1000" b="0">
                          <a:solidFill>
                            <a:srgbClr val="233324"/>
                          </a:solidFill>
                          <a:latin typeface="Calibri"/>
                        </a:defRPr>
                      </a:pPr>
                      <a:r>
                        <a:t>MERAH</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ACT-002</a:t>
                      </a:r>
                    </a:p>
                  </a:txBody>
                  <a:tcPr marL="73152" marR="73152" marT="18288" marB="18288" anchor="ctr">
                    <a:solidFill>
                      <a:srgbClr val="F4F7F1"/>
                    </a:solidFill>
                  </a:tcPr>
                </a:tc>
                <a:tc>
                  <a:txBody>
                    <a:bodyPr/>
                    <a:lstStyle/>
                    <a:p>
                      <a:pPr algn="l">
                        <a:defRPr sz="1000" b="0">
                          <a:solidFill>
                            <a:srgbClr val="233324"/>
                          </a:solidFill>
                          <a:latin typeface="Calibri"/>
                        </a:defRPr>
                      </a:pPr>
                      <a:r>
                        <a:t>P-FNE-01</a:t>
                      </a:r>
                    </a:p>
                  </a:txBody>
                  <a:tcPr marL="73152" marR="73152" marT="18288" marB="18288" anchor="ctr">
                    <a:solidFill>
                      <a:srgbClr val="F4F7F1"/>
                    </a:solidFill>
                  </a:tcPr>
                </a:tc>
                <a:tc>
                  <a:txBody>
                    <a:bodyPr/>
                    <a:lstStyle/>
                    <a:p>
                      <a:pPr algn="l">
                        <a:defRPr sz="1000" b="0">
                          <a:solidFill>
                            <a:srgbClr val="233324"/>
                          </a:solidFill>
                          <a:latin typeface="Calibri"/>
                        </a:defRPr>
                      </a:pPr>
                      <a:r>
                        <a:t>IAM &amp; SSO Implementation</a:t>
                      </a:r>
                    </a:p>
                  </a:txBody>
                  <a:tcPr marL="73152" marR="73152" marT="18288" marB="18288" anchor="ctr">
                    <a:solidFill>
                      <a:srgbClr val="F4F7F1"/>
                    </a:solidFill>
                  </a:tcPr>
                </a:tc>
                <a:tc>
                  <a:txBody>
                    <a:bodyPr/>
                    <a:lstStyle/>
                    <a:p>
                      <a:pPr algn="ctr">
                        <a:defRPr sz="1000" b="0">
                          <a:solidFill>
                            <a:srgbClr val="233324"/>
                          </a:solidFill>
                          <a:latin typeface="Calibri"/>
                        </a:defRPr>
                      </a:pPr>
                      <a:r>
                        <a:t>Terlambat</a:t>
                      </a:r>
                    </a:p>
                  </a:txBody>
                  <a:tcPr marL="73152" marR="73152" marT="18288" marB="18288" anchor="ctr">
                    <a:solidFill>
                      <a:srgbClr val="F4F7F1"/>
                    </a:solidFill>
                  </a:tcPr>
                </a:tc>
                <a:tc>
                  <a:txBody>
                    <a:bodyPr/>
                    <a:lstStyle/>
                    <a:p>
                      <a:pPr algn="ctr">
                        <a:defRPr sz="1000" b="0">
                          <a:solidFill>
                            <a:srgbClr val="233324"/>
                          </a:solidFill>
                          <a:latin typeface="Calibri"/>
                        </a:defRPr>
                      </a:pPr>
                      <a:r>
                        <a:t>0.9999</a:t>
                      </a:r>
                    </a:p>
                  </a:txBody>
                  <a:tcPr marL="73152" marR="73152" marT="18288" marB="18288" anchor="ctr">
                    <a:solidFill>
                      <a:srgbClr val="F4F7F1"/>
                    </a:solidFill>
                  </a:tcPr>
                </a:tc>
                <a:tc>
                  <a:txBody>
                    <a:bodyPr/>
                    <a:lstStyle/>
                    <a:p>
                      <a:pPr algn="ctr">
                        <a:defRPr sz="1000" b="0">
                          <a:solidFill>
                            <a:srgbClr val="233324"/>
                          </a:solidFill>
                          <a:latin typeface="Calibri"/>
                        </a:defRPr>
                      </a:pPr>
                      <a:r>
                        <a:t>MERAH</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ACT-018</a:t>
                      </a:r>
                    </a:p>
                  </a:txBody>
                  <a:tcPr marL="73152" marR="73152" marT="18288" marB="18288" anchor="ctr">
                    <a:solidFill>
                      <a:srgbClr val="FFFFFF"/>
                    </a:solidFill>
                  </a:tcPr>
                </a:tc>
                <a:tc>
                  <a:txBody>
                    <a:bodyPr/>
                    <a:lstStyle/>
                    <a:p>
                      <a:pPr algn="l">
                        <a:defRPr sz="1000" b="0">
                          <a:solidFill>
                            <a:srgbClr val="233324"/>
                          </a:solidFill>
                          <a:latin typeface="Calibri"/>
                        </a:defRPr>
                      </a:pPr>
                      <a:r>
                        <a:t>P-FNE-06</a:t>
                      </a:r>
                    </a:p>
                  </a:txBody>
                  <a:tcPr marL="73152" marR="73152" marT="18288" marB="18288" anchor="ctr">
                    <a:solidFill>
                      <a:srgbClr val="FFFFFF"/>
                    </a:solidFill>
                  </a:tcPr>
                </a:tc>
                <a:tc>
                  <a:txBody>
                    <a:bodyPr/>
                    <a:lstStyle/>
                    <a:p>
                      <a:pPr algn="l">
                        <a:defRPr sz="1000" b="0">
                          <a:solidFill>
                            <a:srgbClr val="233324"/>
                          </a:solidFill>
                          <a:latin typeface="Calibri"/>
                        </a:defRPr>
                      </a:pPr>
                      <a:r>
                        <a:t>General Ledger &amp; Auto Journal Ingestion</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0.5735</a:t>
                      </a:r>
                    </a:p>
                  </a:txBody>
                  <a:tcPr marL="73152" marR="73152" marT="18288" marB="18288" anchor="ctr">
                    <a:solidFill>
                      <a:srgbClr val="FFFFFF"/>
                    </a:solidFill>
                  </a:tcPr>
                </a:tc>
                <a:tc>
                  <a:txBody>
                    <a:bodyPr/>
                    <a:lstStyle/>
                    <a:p>
                      <a:pPr algn="ctr">
                        <a:defRPr sz="1000" b="0">
                          <a:solidFill>
                            <a:srgbClr val="233324"/>
                          </a:solidFill>
                          <a:latin typeface="Calibri"/>
                        </a:defRPr>
                      </a:pPr>
                      <a:r>
                        <a:t>KUNING</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ACT-019</a:t>
                      </a:r>
                    </a:p>
                  </a:txBody>
                  <a:tcPr marL="73152" marR="73152" marT="18288" marB="18288" anchor="ctr">
                    <a:solidFill>
                      <a:srgbClr val="F4F7F1"/>
                    </a:solidFill>
                  </a:tcPr>
                </a:tc>
                <a:tc>
                  <a:txBody>
                    <a:bodyPr/>
                    <a:lstStyle/>
                    <a:p>
                      <a:pPr algn="l">
                        <a:defRPr sz="1000" b="0">
                          <a:solidFill>
                            <a:srgbClr val="233324"/>
                          </a:solidFill>
                          <a:latin typeface="Calibri"/>
                        </a:defRPr>
                      </a:pPr>
                      <a:r>
                        <a:t>P-FNE-06</a:t>
                      </a:r>
                    </a:p>
                  </a:txBody>
                  <a:tcPr marL="73152" marR="73152" marT="18288" marB="18288" anchor="ctr">
                    <a:solidFill>
                      <a:srgbClr val="F4F7F1"/>
                    </a:solidFill>
                  </a:tcPr>
                </a:tc>
                <a:tc>
                  <a:txBody>
                    <a:bodyPr/>
                    <a:lstStyle/>
                    <a:p>
                      <a:pPr algn="l">
                        <a:defRPr sz="1000" b="0">
                          <a:solidFill>
                            <a:srgbClr val="233324"/>
                          </a:solidFill>
                          <a:latin typeface="Calibri"/>
                        </a:defRPr>
                      </a:pPr>
                      <a:r>
                        <a:t>Accounts Payable Three-Way Matching</a:t>
                      </a:r>
                    </a:p>
                  </a:txBody>
                  <a:tcPr marL="73152" marR="73152" marT="18288" marB="18288" anchor="ctr">
                    <a:solidFill>
                      <a:srgbClr val="F4F7F1"/>
                    </a:solidFill>
                  </a:tcPr>
                </a:tc>
                <a:tc>
                  <a:txBody>
                    <a:bodyPr/>
                    <a:lstStyle/>
                    <a:p>
                      <a:pPr algn="ctr">
                        <a:defRPr sz="1000" b="0">
                          <a:solidFill>
                            <a:srgbClr val="233324"/>
                          </a:solidFill>
                          <a:latin typeface="Calibri"/>
                        </a:defRPr>
                      </a:pPr>
                      <a:r>
                        <a:t>Tepat waktu</a:t>
                      </a:r>
                    </a:p>
                  </a:txBody>
                  <a:tcPr marL="73152" marR="73152" marT="18288" marB="18288" anchor="ctr">
                    <a:solidFill>
                      <a:srgbClr val="F4F7F1"/>
                    </a:solidFill>
                  </a:tcPr>
                </a:tc>
                <a:tc>
                  <a:txBody>
                    <a:bodyPr/>
                    <a:lstStyle/>
                    <a:p>
                      <a:pPr algn="ctr">
                        <a:defRPr sz="1000" b="0">
                          <a:solidFill>
                            <a:srgbClr val="233324"/>
                          </a:solidFill>
                          <a:latin typeface="Calibri"/>
                        </a:defRPr>
                      </a:pPr>
                      <a:r>
                        <a:t>0.0012</a:t>
                      </a:r>
                    </a:p>
                  </a:txBody>
                  <a:tcPr marL="73152" marR="73152" marT="18288" marB="18288" anchor="ctr">
                    <a:solidFill>
                      <a:srgbClr val="F4F7F1"/>
                    </a:solidFill>
                  </a:tcPr>
                </a:tc>
                <a:tc>
                  <a:txBody>
                    <a:bodyPr/>
                    <a:lstStyle/>
                    <a:p>
                      <a:pPr algn="ctr">
                        <a:defRPr sz="1000" b="0">
                          <a:solidFill>
                            <a:srgbClr val="233324"/>
                          </a:solidFill>
                          <a:latin typeface="Calibri"/>
                        </a:defRPr>
                      </a:pPr>
                      <a:r>
                        <a:t>HIJAU</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ACT-001</a:t>
                      </a:r>
                    </a:p>
                  </a:txBody>
                  <a:tcPr marL="73152" marR="73152" marT="18288" marB="18288" anchor="ctr">
                    <a:solidFill>
                      <a:srgbClr val="FFFFFF"/>
                    </a:solidFill>
                  </a:tcPr>
                </a:tc>
                <a:tc>
                  <a:txBody>
                    <a:bodyPr/>
                    <a:lstStyle/>
                    <a:p>
                      <a:pPr algn="l">
                        <a:defRPr sz="1000" b="0">
                          <a:solidFill>
                            <a:srgbClr val="233324"/>
                          </a:solidFill>
                          <a:latin typeface="Calibri"/>
                        </a:defRPr>
                      </a:pPr>
                      <a:r>
                        <a:t>P-FNE-01</a:t>
                      </a:r>
                    </a:p>
                  </a:txBody>
                  <a:tcPr marL="73152" marR="73152" marT="18288" marB="18288" anchor="ctr">
                    <a:solidFill>
                      <a:srgbClr val="FFFFFF"/>
                    </a:solidFill>
                  </a:tcPr>
                </a:tc>
                <a:tc>
                  <a:txBody>
                    <a:bodyPr/>
                    <a:lstStyle/>
                    <a:p>
                      <a:pPr algn="l">
                        <a:defRPr sz="1000" b="0">
                          <a:solidFill>
                            <a:srgbClr val="233324"/>
                          </a:solidFill>
                          <a:latin typeface="Calibri"/>
                        </a:defRPr>
                      </a:pPr>
                      <a:r>
                        <a:t>Infrastructure &amp; K8s Cluster Setup</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0.0000</a:t>
                      </a:r>
                    </a:p>
                  </a:txBody>
                  <a:tcPr marL="73152" marR="73152" marT="18288" marB="18288" anchor="ctr">
                    <a:solidFill>
                      <a:srgbClr val="FFFFFF"/>
                    </a:solidFill>
                  </a:tcPr>
                </a:tc>
                <a:tc>
                  <a:txBody>
                    <a:bodyPr/>
                    <a:lstStyle/>
                    <a:p>
                      <a:pPr algn="ctr">
                        <a:defRPr sz="1000" b="0">
                          <a:solidFill>
                            <a:srgbClr val="233324"/>
                          </a:solidFill>
                          <a:latin typeface="Calibri"/>
                        </a:defRPr>
                      </a:pPr>
                      <a:r>
                        <a:t>HIJAU</a:t>
                      </a:r>
                    </a:p>
                  </a:txBody>
                  <a:tcPr marL="73152" marR="73152" marT="18288" marB="18288" anchor="ctr">
                    <a:solidFill>
                      <a:srgbClr val="FFFFFF"/>
                    </a:solidFill>
                  </a:tcPr>
                </a:tc>
              </a:tr>
            </a:tbl>
          </a:graphicData>
        </a:graphic>
      </p:graphicFrame>
      <p:sp>
        <p:nvSpPr>
          <p:cNvPr id="24" name="TextBox 23"/>
          <p:cNvSpPr txBox="1"/>
          <p:nvPr/>
        </p:nvSpPr>
        <p:spPr>
          <a:xfrm>
            <a:off x="731520" y="5806440"/>
            <a:ext cx="10744200" cy="548640"/>
          </a:xfrm>
          <a:prstGeom prst="rect">
            <a:avLst/>
          </a:prstGeom>
          <a:noFill/>
        </p:spPr>
        <p:txBody>
          <a:bodyPr wrap="square" lIns="0" tIns="0" rIns="0" bIns="0">
            <a:spAutoFit/>
          </a:bodyPr>
          <a:lstStyle/>
          <a:p>
            <a:pPr algn="l">
              <a:lnSpc>
                <a:spcPct val="100000"/>
              </a:lnSpc>
              <a:defRPr sz="1100" b="0">
                <a:solidFill>
                  <a:srgbClr val="233324"/>
                </a:solidFill>
                <a:latin typeface="Calibri"/>
              </a:defRPr>
            </a:pPr>
            <a:r>
              <a:t>Tindakan yang dipicu: Hijau — pantau rutin  ·  Kuning — tinjau ulang alokasi developer  ·  Merah — eskalasi (crashing, fast-tracking, atau penyesuaian backlog).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PENUTUP</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Keterbatasan yang Diakui dan Rencana Pertemuan 6–8</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17</a:t>
            </a:r>
          </a:p>
        </p:txBody>
      </p:sp>
      <p:sp>
        <p:nvSpPr>
          <p:cNvPr id="6" name="Rounded Rectangle 5"/>
          <p:cNvSpPr/>
          <p:nvPr/>
        </p:nvSpPr>
        <p:spPr>
          <a:xfrm>
            <a:off x="73152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B33A2F"/>
                </a:solidFill>
                <a:latin typeface="Calibri"/>
              </a:defRPr>
            </a:pPr>
            <a:r>
              <a:t>KETERBATASAN PENELITIAN</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050" b="0">
                <a:solidFill>
                  <a:srgbClr val="233324"/>
                </a:solidFill>
                <a:latin typeface="Calibri"/>
              </a:defRPr>
            </a:pPr>
            <a:r>
              <a:t>•  N = 26 dengan ±5 task uji per lipatan; selisih kecil antar-model belum tentu signifikan.</a:t>
            </a:r>
          </a:p>
          <a:p>
            <a:pPr algn="l">
              <a:lnSpc>
                <a:spcPct val="130000"/>
              </a:lnSpc>
              <a:defRPr sz="1050" b="0">
                <a:solidFill>
                  <a:srgbClr val="233324"/>
                </a:solidFill>
                <a:latin typeface="Calibri"/>
              </a:defRPr>
            </a:pPr>
            <a:r>
              <a:t>•  ROC-AUC ≈ 1.000 terjadi karena data empiris-simulatif hampir terpisah sempurna oleh SPI, bukan jaminan kinerja pada proyek riil.</a:t>
            </a:r>
          </a:p>
          <a:p>
            <a:pPr algn="l">
              <a:lnSpc>
                <a:spcPct val="130000"/>
              </a:lnSpc>
              <a:defRPr sz="1050" b="0">
                <a:solidFill>
                  <a:srgbClr val="233324"/>
                </a:solidFill>
                <a:latin typeface="Calibri"/>
              </a:defRPr>
            </a:pPr>
            <a:r>
              <a:t>•  Isotonic Regression rawan overfitting pada ukuran sampel ini (Niculescu-Mizil &amp; Caruana, 2005).</a:t>
            </a:r>
          </a:p>
          <a:p>
            <a:pPr algn="l">
              <a:lnSpc>
                <a:spcPct val="130000"/>
              </a:lnSpc>
              <a:defRPr sz="1050" b="0">
                <a:solidFill>
                  <a:srgbClr val="233324"/>
                </a:solidFill>
                <a:latin typeface="Calibri"/>
              </a:defRPr>
            </a:pPr>
            <a:r>
              <a:t>•  Pemilihan model dan ambang dilakukan pada prediksi out-of-fold yang sama, sehingga estimasinya sedikit optimistis.</a:t>
            </a:r>
          </a:p>
        </p:txBody>
      </p:sp>
      <p:sp>
        <p:nvSpPr>
          <p:cNvPr id="9" name="Rounded Rectangle 8"/>
          <p:cNvSpPr/>
          <p:nvPr/>
        </p:nvSpPr>
        <p:spPr>
          <a:xfrm>
            <a:off x="626364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RENCANA LANJUTAN</a:t>
            </a:r>
          </a:p>
        </p:txBody>
      </p:sp>
      <p:sp>
        <p:nvSpPr>
          <p:cNvPr id="11" name="TextBox 10"/>
          <p:cNvSpPr txBox="1"/>
          <p:nvPr/>
        </p:nvSpPr>
        <p:spPr>
          <a:xfrm>
            <a:off x="6537960" y="254203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P6</a:t>
            </a:r>
          </a:p>
        </p:txBody>
      </p:sp>
      <p:sp>
        <p:nvSpPr>
          <p:cNvPr id="12" name="TextBox 11"/>
          <p:cNvSpPr txBox="1"/>
          <p:nvPr/>
        </p:nvSpPr>
        <p:spPr>
          <a:xfrm>
            <a:off x="7406640" y="254203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Analisis data eksperimen: uji signifikansi antar-model dan analisis kesalahan prediksi.</a:t>
            </a:r>
          </a:p>
        </p:txBody>
      </p:sp>
      <p:sp>
        <p:nvSpPr>
          <p:cNvPr id="13" name="TextBox 12"/>
          <p:cNvSpPr txBox="1"/>
          <p:nvPr/>
        </p:nvSpPr>
        <p:spPr>
          <a:xfrm>
            <a:off x="6537960" y="341071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P7</a:t>
            </a:r>
          </a:p>
        </p:txBody>
      </p:sp>
      <p:sp>
        <p:nvSpPr>
          <p:cNvPr id="14" name="TextBox 13"/>
          <p:cNvSpPr txBox="1"/>
          <p:nvPr/>
        </p:nvSpPr>
        <p:spPr>
          <a:xfrm>
            <a:off x="7406640" y="341071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Pembahasan dan interpretasi: konfrontasi temuan dengan Browning &amp; Yassine (2010) serta Batselier &amp; Vanhoucke (2015).</a:t>
            </a:r>
          </a:p>
        </p:txBody>
      </p:sp>
      <p:sp>
        <p:nvSpPr>
          <p:cNvPr id="15" name="TextBox 14"/>
          <p:cNvSpPr txBox="1"/>
          <p:nvPr/>
        </p:nvSpPr>
        <p:spPr>
          <a:xfrm>
            <a:off x="6537960" y="427939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P8</a:t>
            </a:r>
          </a:p>
        </p:txBody>
      </p:sp>
      <p:sp>
        <p:nvSpPr>
          <p:cNvPr id="16" name="TextBox 15"/>
          <p:cNvSpPr txBox="1"/>
          <p:nvPr/>
        </p:nvSpPr>
        <p:spPr>
          <a:xfrm>
            <a:off x="7406640" y="427939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Finalisasi paper IMRAD, abstrak, sitasi, dan slide presentasi akhir.</a:t>
            </a:r>
          </a:p>
        </p:txBody>
      </p:sp>
      <p:sp>
        <p:nvSpPr>
          <p:cNvPr id="17" name="TextBox 16"/>
          <p:cNvSpPr txBox="1"/>
          <p:nvPr/>
        </p:nvSpPr>
        <p:spPr>
          <a:xfrm>
            <a:off x="6537960" y="514807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Validasi</a:t>
            </a:r>
          </a:p>
        </p:txBody>
      </p:sp>
      <p:sp>
        <p:nvSpPr>
          <p:cNvPr id="18" name="TextBox 17"/>
          <p:cNvSpPr txBox="1"/>
          <p:nvPr/>
        </p:nvSpPr>
        <p:spPr>
          <a:xfrm>
            <a:off x="7406640" y="514807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Pengujian pada data proyek riil berukuran N &gt; 100 sebagai agenda future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